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23" r:id="rId3"/>
    <p:sldId id="322" r:id="rId4"/>
    <p:sldId id="271" r:id="rId5"/>
    <p:sldId id="315" r:id="rId6"/>
    <p:sldId id="270" r:id="rId7"/>
    <p:sldId id="316" r:id="rId8"/>
    <p:sldId id="317" r:id="rId9"/>
    <p:sldId id="273" r:id="rId10"/>
    <p:sldId id="308" r:id="rId11"/>
    <p:sldId id="318" r:id="rId12"/>
    <p:sldId id="279" r:id="rId13"/>
    <p:sldId id="278" r:id="rId14"/>
    <p:sldId id="319" r:id="rId15"/>
    <p:sldId id="282" r:id="rId16"/>
    <p:sldId id="309" r:id="rId17"/>
    <p:sldId id="311" r:id="rId18"/>
    <p:sldId id="310" r:id="rId19"/>
    <p:sldId id="281" r:id="rId20"/>
    <p:sldId id="283" r:id="rId21"/>
    <p:sldId id="298" r:id="rId22"/>
    <p:sldId id="299" r:id="rId23"/>
    <p:sldId id="300" r:id="rId24"/>
    <p:sldId id="301" r:id="rId25"/>
    <p:sldId id="302" r:id="rId26"/>
    <p:sldId id="312" r:id="rId27"/>
    <p:sldId id="303" r:id="rId28"/>
    <p:sldId id="313" r:id="rId29"/>
    <p:sldId id="304" r:id="rId30"/>
    <p:sldId id="305" r:id="rId31"/>
    <p:sldId id="286" r:id="rId32"/>
    <p:sldId id="275" r:id="rId33"/>
    <p:sldId id="292" r:id="rId34"/>
    <p:sldId id="294" r:id="rId35"/>
    <p:sldId id="295" r:id="rId36"/>
    <p:sldId id="296" r:id="rId37"/>
    <p:sldId id="297" r:id="rId38"/>
    <p:sldId id="293" r:id="rId39"/>
    <p:sldId id="25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595" autoAdjust="0"/>
  </p:normalViewPr>
  <p:slideViewPr>
    <p:cSldViewPr snapToGrid="0">
      <p:cViewPr varScale="1">
        <p:scale>
          <a:sx n="60" d="100"/>
          <a:sy n="60" d="100"/>
        </p:scale>
        <p:origin x="114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in Paudel" userId="8bd1b1bdd5511885" providerId="LiveId" clId="{E39846F3-9283-4CD8-BEB8-5D59B6F072CA}"/>
    <pc:docChg chg="modSld">
      <pc:chgData name="Navin Paudel" userId="8bd1b1bdd5511885" providerId="LiveId" clId="{E39846F3-9283-4CD8-BEB8-5D59B6F072CA}" dt="2026-09-24T13:02:34.728" v="0" actId="20577"/>
      <pc:docMkLst>
        <pc:docMk/>
      </pc:docMkLst>
      <pc:sldChg chg="modSp mod">
        <pc:chgData name="Navin Paudel" userId="8bd1b1bdd5511885" providerId="LiveId" clId="{E39846F3-9283-4CD8-BEB8-5D59B6F072CA}" dt="2026-09-24T13:02:34.728" v="0" actId="20577"/>
        <pc:sldMkLst>
          <pc:docMk/>
          <pc:sldMk cId="3673429873" sldId="257"/>
        </pc:sldMkLst>
        <pc:spChg chg="mod">
          <ac:chgData name="Navin Paudel" userId="8bd1b1bdd5511885" providerId="LiveId" clId="{E39846F3-9283-4CD8-BEB8-5D59B6F072CA}" dt="2026-09-24T13:02:34.728" v="0" actId="20577"/>
          <ac:spMkLst>
            <pc:docMk/>
            <pc:sldMk cId="3673429873" sldId="257"/>
            <ac:spMk id="6" creationId="{9B5C384E-5018-1144-4589-F1536755D2A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AD5F9-2B96-2731-C1B4-C56DA09799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450208-FDFE-552F-3BE0-6C3396986F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0000AF-4889-9BAA-EE7B-E18534984DAB}"/>
              </a:ext>
            </a:extLst>
          </p:cNvPr>
          <p:cNvSpPr>
            <a:spLocks noGrp="1"/>
          </p:cNvSpPr>
          <p:nvPr>
            <p:ph type="dt" sz="half" idx="10"/>
          </p:nvPr>
        </p:nvSpPr>
        <p:spPr/>
        <p:txBody>
          <a:bodyPr/>
          <a:lstStyle/>
          <a:p>
            <a:fld id="{AC142BD5-8C06-438F-88CA-4E0543FFE0E9}" type="datetimeFigureOut">
              <a:rPr lang="en-US" smtClean="0"/>
              <a:t>9/24/2026</a:t>
            </a:fld>
            <a:endParaRPr lang="en-US"/>
          </a:p>
        </p:txBody>
      </p:sp>
      <p:sp>
        <p:nvSpPr>
          <p:cNvPr id="5" name="Footer Placeholder 4">
            <a:extLst>
              <a:ext uri="{FF2B5EF4-FFF2-40B4-BE49-F238E27FC236}">
                <a16:creationId xmlns:a16="http://schemas.microsoft.com/office/drawing/2014/main" id="{537EB906-9164-FB51-BF92-FA3C6F1EE2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76E691-1E62-EAEC-73E6-FABDA1F32857}"/>
              </a:ext>
            </a:extLst>
          </p:cNvPr>
          <p:cNvSpPr>
            <a:spLocks noGrp="1"/>
          </p:cNvSpPr>
          <p:nvPr>
            <p:ph type="sldNum" sz="quarter" idx="12"/>
          </p:nvPr>
        </p:nvSpPr>
        <p:spPr/>
        <p:txBody>
          <a:bodyPr/>
          <a:lstStyle/>
          <a:p>
            <a:fld id="{C2484C87-D129-46E0-9333-8A29C7FEECB8}" type="slidenum">
              <a:rPr lang="en-US" smtClean="0"/>
              <a:t>‹#›</a:t>
            </a:fld>
            <a:endParaRPr lang="en-US"/>
          </a:p>
        </p:txBody>
      </p:sp>
    </p:spTree>
    <p:extLst>
      <p:ext uri="{BB962C8B-B14F-4D97-AF65-F5344CB8AC3E}">
        <p14:creationId xmlns:p14="http://schemas.microsoft.com/office/powerpoint/2010/main" val="2295990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A955E-4744-7869-A8D6-6C16B90CD0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F13794-E6AA-801F-A393-9F39A90131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4FB570-BC7C-9723-5FBD-67E95330B312}"/>
              </a:ext>
            </a:extLst>
          </p:cNvPr>
          <p:cNvSpPr>
            <a:spLocks noGrp="1"/>
          </p:cNvSpPr>
          <p:nvPr>
            <p:ph type="dt" sz="half" idx="10"/>
          </p:nvPr>
        </p:nvSpPr>
        <p:spPr/>
        <p:txBody>
          <a:bodyPr/>
          <a:lstStyle/>
          <a:p>
            <a:fld id="{AC142BD5-8C06-438F-88CA-4E0543FFE0E9}" type="datetimeFigureOut">
              <a:rPr lang="en-US" smtClean="0"/>
              <a:t>9/24/2026</a:t>
            </a:fld>
            <a:endParaRPr lang="en-US"/>
          </a:p>
        </p:txBody>
      </p:sp>
      <p:sp>
        <p:nvSpPr>
          <p:cNvPr id="5" name="Footer Placeholder 4">
            <a:extLst>
              <a:ext uri="{FF2B5EF4-FFF2-40B4-BE49-F238E27FC236}">
                <a16:creationId xmlns:a16="http://schemas.microsoft.com/office/drawing/2014/main" id="{D7629760-17B1-0FDA-2DEE-4BE79D5AEE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3DBB50-7729-303B-27D9-723133D593A7}"/>
              </a:ext>
            </a:extLst>
          </p:cNvPr>
          <p:cNvSpPr>
            <a:spLocks noGrp="1"/>
          </p:cNvSpPr>
          <p:nvPr>
            <p:ph type="sldNum" sz="quarter" idx="12"/>
          </p:nvPr>
        </p:nvSpPr>
        <p:spPr/>
        <p:txBody>
          <a:bodyPr/>
          <a:lstStyle/>
          <a:p>
            <a:fld id="{C2484C87-D129-46E0-9333-8A29C7FEECB8}" type="slidenum">
              <a:rPr lang="en-US" smtClean="0"/>
              <a:t>‹#›</a:t>
            </a:fld>
            <a:endParaRPr lang="en-US"/>
          </a:p>
        </p:txBody>
      </p:sp>
    </p:spTree>
    <p:extLst>
      <p:ext uri="{BB962C8B-B14F-4D97-AF65-F5344CB8AC3E}">
        <p14:creationId xmlns:p14="http://schemas.microsoft.com/office/powerpoint/2010/main" val="959651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CB79B-3AF5-E217-F9D8-AB3E655B9D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B4FA89-E86F-7EF2-9548-3B96EEFDB5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1304F0-E0A7-1F4B-F94B-6B3B79328047}"/>
              </a:ext>
            </a:extLst>
          </p:cNvPr>
          <p:cNvSpPr>
            <a:spLocks noGrp="1"/>
          </p:cNvSpPr>
          <p:nvPr>
            <p:ph type="dt" sz="half" idx="10"/>
          </p:nvPr>
        </p:nvSpPr>
        <p:spPr/>
        <p:txBody>
          <a:bodyPr/>
          <a:lstStyle/>
          <a:p>
            <a:fld id="{AC142BD5-8C06-438F-88CA-4E0543FFE0E9}" type="datetimeFigureOut">
              <a:rPr lang="en-US" smtClean="0"/>
              <a:t>9/24/2026</a:t>
            </a:fld>
            <a:endParaRPr lang="en-US"/>
          </a:p>
        </p:txBody>
      </p:sp>
      <p:sp>
        <p:nvSpPr>
          <p:cNvPr id="5" name="Footer Placeholder 4">
            <a:extLst>
              <a:ext uri="{FF2B5EF4-FFF2-40B4-BE49-F238E27FC236}">
                <a16:creationId xmlns:a16="http://schemas.microsoft.com/office/drawing/2014/main" id="{BE672C73-E5FA-7B15-3860-D42B98A491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FA0D10-750E-57A9-DD9F-CE39EEDBBC6F}"/>
              </a:ext>
            </a:extLst>
          </p:cNvPr>
          <p:cNvSpPr>
            <a:spLocks noGrp="1"/>
          </p:cNvSpPr>
          <p:nvPr>
            <p:ph type="sldNum" sz="quarter" idx="12"/>
          </p:nvPr>
        </p:nvSpPr>
        <p:spPr/>
        <p:txBody>
          <a:bodyPr/>
          <a:lstStyle/>
          <a:p>
            <a:fld id="{C2484C87-D129-46E0-9333-8A29C7FEECB8}" type="slidenum">
              <a:rPr lang="en-US" smtClean="0"/>
              <a:t>‹#›</a:t>
            </a:fld>
            <a:endParaRPr lang="en-US"/>
          </a:p>
        </p:txBody>
      </p:sp>
    </p:spTree>
    <p:extLst>
      <p:ext uri="{BB962C8B-B14F-4D97-AF65-F5344CB8AC3E}">
        <p14:creationId xmlns:p14="http://schemas.microsoft.com/office/powerpoint/2010/main" val="3921667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F904A-2DAD-ACEA-9DBA-D5E910B800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9B6B7B-F784-DAFC-75A3-2F36D80681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2CF7D4-0774-1A37-DC07-7360388756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2795AB-E460-92F7-3EFC-DC2232A027FD}"/>
              </a:ext>
            </a:extLst>
          </p:cNvPr>
          <p:cNvSpPr>
            <a:spLocks noGrp="1"/>
          </p:cNvSpPr>
          <p:nvPr>
            <p:ph type="dt" sz="half" idx="10"/>
          </p:nvPr>
        </p:nvSpPr>
        <p:spPr/>
        <p:txBody>
          <a:bodyPr/>
          <a:lstStyle/>
          <a:p>
            <a:fld id="{AC142BD5-8C06-438F-88CA-4E0543FFE0E9}" type="datetimeFigureOut">
              <a:rPr lang="en-US" smtClean="0"/>
              <a:t>9/24/2026</a:t>
            </a:fld>
            <a:endParaRPr lang="en-US"/>
          </a:p>
        </p:txBody>
      </p:sp>
      <p:sp>
        <p:nvSpPr>
          <p:cNvPr id="6" name="Footer Placeholder 5">
            <a:extLst>
              <a:ext uri="{FF2B5EF4-FFF2-40B4-BE49-F238E27FC236}">
                <a16:creationId xmlns:a16="http://schemas.microsoft.com/office/drawing/2014/main" id="{0A1A47BA-CC40-8F5F-EEAB-8360D3F228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D2EA7B-D635-6F92-67C5-03A820DF7678}"/>
              </a:ext>
            </a:extLst>
          </p:cNvPr>
          <p:cNvSpPr>
            <a:spLocks noGrp="1"/>
          </p:cNvSpPr>
          <p:nvPr>
            <p:ph type="sldNum" sz="quarter" idx="12"/>
          </p:nvPr>
        </p:nvSpPr>
        <p:spPr/>
        <p:txBody>
          <a:bodyPr/>
          <a:lstStyle/>
          <a:p>
            <a:fld id="{C2484C87-D129-46E0-9333-8A29C7FEECB8}" type="slidenum">
              <a:rPr lang="en-US" smtClean="0"/>
              <a:t>‹#›</a:t>
            </a:fld>
            <a:endParaRPr lang="en-US"/>
          </a:p>
        </p:txBody>
      </p:sp>
    </p:spTree>
    <p:extLst>
      <p:ext uri="{BB962C8B-B14F-4D97-AF65-F5344CB8AC3E}">
        <p14:creationId xmlns:p14="http://schemas.microsoft.com/office/powerpoint/2010/main" val="69618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F3DC-9F7B-E1E8-A204-320F8A4351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2D8463-DA0D-13EE-103D-0E7ED94771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BA3E45-9831-6189-33CB-5D20051147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8D47F1-9CC8-D608-D5FA-3A31746704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001E1F-8740-B71B-BE5F-15D72F5081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981A25-4681-82CA-EDAF-C49968F03C43}"/>
              </a:ext>
            </a:extLst>
          </p:cNvPr>
          <p:cNvSpPr>
            <a:spLocks noGrp="1"/>
          </p:cNvSpPr>
          <p:nvPr>
            <p:ph type="dt" sz="half" idx="10"/>
          </p:nvPr>
        </p:nvSpPr>
        <p:spPr/>
        <p:txBody>
          <a:bodyPr/>
          <a:lstStyle/>
          <a:p>
            <a:fld id="{AC142BD5-8C06-438F-88CA-4E0543FFE0E9}" type="datetimeFigureOut">
              <a:rPr lang="en-US" smtClean="0"/>
              <a:t>9/24/2026</a:t>
            </a:fld>
            <a:endParaRPr lang="en-US"/>
          </a:p>
        </p:txBody>
      </p:sp>
      <p:sp>
        <p:nvSpPr>
          <p:cNvPr id="8" name="Footer Placeholder 7">
            <a:extLst>
              <a:ext uri="{FF2B5EF4-FFF2-40B4-BE49-F238E27FC236}">
                <a16:creationId xmlns:a16="http://schemas.microsoft.com/office/drawing/2014/main" id="{7A6F536A-C44A-CA4B-EFF0-64560E7BFC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3EC574-B63B-2CF6-F7CB-D0E11577BCC4}"/>
              </a:ext>
            </a:extLst>
          </p:cNvPr>
          <p:cNvSpPr>
            <a:spLocks noGrp="1"/>
          </p:cNvSpPr>
          <p:nvPr>
            <p:ph type="sldNum" sz="quarter" idx="12"/>
          </p:nvPr>
        </p:nvSpPr>
        <p:spPr/>
        <p:txBody>
          <a:bodyPr/>
          <a:lstStyle/>
          <a:p>
            <a:fld id="{C2484C87-D129-46E0-9333-8A29C7FEECB8}" type="slidenum">
              <a:rPr lang="en-US" smtClean="0"/>
              <a:t>‹#›</a:t>
            </a:fld>
            <a:endParaRPr lang="en-US"/>
          </a:p>
        </p:txBody>
      </p:sp>
    </p:spTree>
    <p:extLst>
      <p:ext uri="{BB962C8B-B14F-4D97-AF65-F5344CB8AC3E}">
        <p14:creationId xmlns:p14="http://schemas.microsoft.com/office/powerpoint/2010/main" val="2598638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90A59-C120-4D40-ADE4-0A62BD2E76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B7B9F1-847D-072E-A5E5-DEA3D2DE4779}"/>
              </a:ext>
            </a:extLst>
          </p:cNvPr>
          <p:cNvSpPr>
            <a:spLocks noGrp="1"/>
          </p:cNvSpPr>
          <p:nvPr>
            <p:ph type="dt" sz="half" idx="10"/>
          </p:nvPr>
        </p:nvSpPr>
        <p:spPr/>
        <p:txBody>
          <a:bodyPr/>
          <a:lstStyle/>
          <a:p>
            <a:fld id="{AC142BD5-8C06-438F-88CA-4E0543FFE0E9}" type="datetimeFigureOut">
              <a:rPr lang="en-US" smtClean="0"/>
              <a:t>9/24/2026</a:t>
            </a:fld>
            <a:endParaRPr lang="en-US"/>
          </a:p>
        </p:txBody>
      </p:sp>
      <p:sp>
        <p:nvSpPr>
          <p:cNvPr id="4" name="Footer Placeholder 3">
            <a:extLst>
              <a:ext uri="{FF2B5EF4-FFF2-40B4-BE49-F238E27FC236}">
                <a16:creationId xmlns:a16="http://schemas.microsoft.com/office/drawing/2014/main" id="{A1A8FB7E-5A05-DF0C-48E7-E7C159C18F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53786B-56AF-AC76-90D3-F4C0FF77EA65}"/>
              </a:ext>
            </a:extLst>
          </p:cNvPr>
          <p:cNvSpPr>
            <a:spLocks noGrp="1"/>
          </p:cNvSpPr>
          <p:nvPr>
            <p:ph type="sldNum" sz="quarter" idx="12"/>
          </p:nvPr>
        </p:nvSpPr>
        <p:spPr/>
        <p:txBody>
          <a:bodyPr/>
          <a:lstStyle/>
          <a:p>
            <a:fld id="{C2484C87-D129-46E0-9333-8A29C7FEECB8}" type="slidenum">
              <a:rPr lang="en-US" smtClean="0"/>
              <a:t>‹#›</a:t>
            </a:fld>
            <a:endParaRPr lang="en-US"/>
          </a:p>
        </p:txBody>
      </p:sp>
    </p:spTree>
    <p:extLst>
      <p:ext uri="{BB962C8B-B14F-4D97-AF65-F5344CB8AC3E}">
        <p14:creationId xmlns:p14="http://schemas.microsoft.com/office/powerpoint/2010/main" val="1467170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10D0BA-8FA3-6BC8-5ADC-9CF08A76B1C7}"/>
              </a:ext>
            </a:extLst>
          </p:cNvPr>
          <p:cNvSpPr>
            <a:spLocks noGrp="1"/>
          </p:cNvSpPr>
          <p:nvPr>
            <p:ph type="dt" sz="half" idx="10"/>
          </p:nvPr>
        </p:nvSpPr>
        <p:spPr/>
        <p:txBody>
          <a:bodyPr/>
          <a:lstStyle/>
          <a:p>
            <a:fld id="{AC142BD5-8C06-438F-88CA-4E0543FFE0E9}" type="datetimeFigureOut">
              <a:rPr lang="en-US" smtClean="0"/>
              <a:t>9/24/2026</a:t>
            </a:fld>
            <a:endParaRPr lang="en-US"/>
          </a:p>
        </p:txBody>
      </p:sp>
      <p:sp>
        <p:nvSpPr>
          <p:cNvPr id="3" name="Footer Placeholder 2">
            <a:extLst>
              <a:ext uri="{FF2B5EF4-FFF2-40B4-BE49-F238E27FC236}">
                <a16:creationId xmlns:a16="http://schemas.microsoft.com/office/drawing/2014/main" id="{E44611B2-7920-62DC-761E-6CF305DC4B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F366A8-D666-4ABF-E133-75127BFB2029}"/>
              </a:ext>
            </a:extLst>
          </p:cNvPr>
          <p:cNvSpPr>
            <a:spLocks noGrp="1"/>
          </p:cNvSpPr>
          <p:nvPr>
            <p:ph type="sldNum" sz="quarter" idx="12"/>
          </p:nvPr>
        </p:nvSpPr>
        <p:spPr/>
        <p:txBody>
          <a:bodyPr/>
          <a:lstStyle/>
          <a:p>
            <a:fld id="{C2484C87-D129-46E0-9333-8A29C7FEECB8}" type="slidenum">
              <a:rPr lang="en-US" smtClean="0"/>
              <a:t>‹#›</a:t>
            </a:fld>
            <a:endParaRPr lang="en-US"/>
          </a:p>
        </p:txBody>
      </p:sp>
    </p:spTree>
    <p:extLst>
      <p:ext uri="{BB962C8B-B14F-4D97-AF65-F5344CB8AC3E}">
        <p14:creationId xmlns:p14="http://schemas.microsoft.com/office/powerpoint/2010/main" val="60046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EADA8-BB59-E7BB-F86B-AFB9A09AE1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99B09A-0E8B-9E19-1525-3B5CBF3E8A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D61177-CB2E-61C8-E641-1770B62C29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2566D8-1389-8B4F-7C1E-E04D322C0F53}"/>
              </a:ext>
            </a:extLst>
          </p:cNvPr>
          <p:cNvSpPr>
            <a:spLocks noGrp="1"/>
          </p:cNvSpPr>
          <p:nvPr>
            <p:ph type="dt" sz="half" idx="10"/>
          </p:nvPr>
        </p:nvSpPr>
        <p:spPr/>
        <p:txBody>
          <a:bodyPr/>
          <a:lstStyle/>
          <a:p>
            <a:fld id="{AC142BD5-8C06-438F-88CA-4E0543FFE0E9}" type="datetimeFigureOut">
              <a:rPr lang="en-US" smtClean="0"/>
              <a:t>9/24/2026</a:t>
            </a:fld>
            <a:endParaRPr lang="en-US"/>
          </a:p>
        </p:txBody>
      </p:sp>
      <p:sp>
        <p:nvSpPr>
          <p:cNvPr id="6" name="Footer Placeholder 5">
            <a:extLst>
              <a:ext uri="{FF2B5EF4-FFF2-40B4-BE49-F238E27FC236}">
                <a16:creationId xmlns:a16="http://schemas.microsoft.com/office/drawing/2014/main" id="{BE65FE3E-714E-6C87-FC0D-4DFB04AAC6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C805CF-356B-72BF-80E9-BB08C993BE35}"/>
              </a:ext>
            </a:extLst>
          </p:cNvPr>
          <p:cNvSpPr>
            <a:spLocks noGrp="1"/>
          </p:cNvSpPr>
          <p:nvPr>
            <p:ph type="sldNum" sz="quarter" idx="12"/>
          </p:nvPr>
        </p:nvSpPr>
        <p:spPr/>
        <p:txBody>
          <a:bodyPr/>
          <a:lstStyle/>
          <a:p>
            <a:fld id="{C2484C87-D129-46E0-9333-8A29C7FEECB8}" type="slidenum">
              <a:rPr lang="en-US" smtClean="0"/>
              <a:t>‹#›</a:t>
            </a:fld>
            <a:endParaRPr lang="en-US"/>
          </a:p>
        </p:txBody>
      </p:sp>
    </p:spTree>
    <p:extLst>
      <p:ext uri="{BB962C8B-B14F-4D97-AF65-F5344CB8AC3E}">
        <p14:creationId xmlns:p14="http://schemas.microsoft.com/office/powerpoint/2010/main" val="498477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92E86-A2A5-4002-CEEA-DB0397ECFD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F20F14-E3AC-6059-FDDE-6385B77316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931E93-CF5A-3094-6AEE-1A0E857CE6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8E7559-2738-4E11-1CE7-B55F2B206D67}"/>
              </a:ext>
            </a:extLst>
          </p:cNvPr>
          <p:cNvSpPr>
            <a:spLocks noGrp="1"/>
          </p:cNvSpPr>
          <p:nvPr>
            <p:ph type="dt" sz="half" idx="10"/>
          </p:nvPr>
        </p:nvSpPr>
        <p:spPr/>
        <p:txBody>
          <a:bodyPr/>
          <a:lstStyle/>
          <a:p>
            <a:fld id="{AC142BD5-8C06-438F-88CA-4E0543FFE0E9}" type="datetimeFigureOut">
              <a:rPr lang="en-US" smtClean="0"/>
              <a:t>9/24/2026</a:t>
            </a:fld>
            <a:endParaRPr lang="en-US"/>
          </a:p>
        </p:txBody>
      </p:sp>
      <p:sp>
        <p:nvSpPr>
          <p:cNvPr id="6" name="Footer Placeholder 5">
            <a:extLst>
              <a:ext uri="{FF2B5EF4-FFF2-40B4-BE49-F238E27FC236}">
                <a16:creationId xmlns:a16="http://schemas.microsoft.com/office/drawing/2014/main" id="{2C57B17A-9DC3-243B-78A3-713B0E48E0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30621E-659A-F35C-6AF3-49860FCA9040}"/>
              </a:ext>
            </a:extLst>
          </p:cNvPr>
          <p:cNvSpPr>
            <a:spLocks noGrp="1"/>
          </p:cNvSpPr>
          <p:nvPr>
            <p:ph type="sldNum" sz="quarter" idx="12"/>
          </p:nvPr>
        </p:nvSpPr>
        <p:spPr/>
        <p:txBody>
          <a:bodyPr/>
          <a:lstStyle/>
          <a:p>
            <a:fld id="{C2484C87-D129-46E0-9333-8A29C7FEECB8}" type="slidenum">
              <a:rPr lang="en-US" smtClean="0"/>
              <a:t>‹#›</a:t>
            </a:fld>
            <a:endParaRPr lang="en-US"/>
          </a:p>
        </p:txBody>
      </p:sp>
    </p:spTree>
    <p:extLst>
      <p:ext uri="{BB962C8B-B14F-4D97-AF65-F5344CB8AC3E}">
        <p14:creationId xmlns:p14="http://schemas.microsoft.com/office/powerpoint/2010/main" val="493734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999F2-F262-7C99-33EE-58912B4578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6ABC78-7EA6-D0BC-455C-4A71561277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D312FD-DF04-736D-0873-B1FF195FF6C6}"/>
              </a:ext>
            </a:extLst>
          </p:cNvPr>
          <p:cNvSpPr>
            <a:spLocks noGrp="1"/>
          </p:cNvSpPr>
          <p:nvPr>
            <p:ph type="dt" sz="half" idx="10"/>
          </p:nvPr>
        </p:nvSpPr>
        <p:spPr/>
        <p:txBody>
          <a:bodyPr/>
          <a:lstStyle/>
          <a:p>
            <a:fld id="{AC142BD5-8C06-438F-88CA-4E0543FFE0E9}" type="datetimeFigureOut">
              <a:rPr lang="en-US" smtClean="0"/>
              <a:t>9/24/2026</a:t>
            </a:fld>
            <a:endParaRPr lang="en-US"/>
          </a:p>
        </p:txBody>
      </p:sp>
      <p:sp>
        <p:nvSpPr>
          <p:cNvPr id="5" name="Footer Placeholder 4">
            <a:extLst>
              <a:ext uri="{FF2B5EF4-FFF2-40B4-BE49-F238E27FC236}">
                <a16:creationId xmlns:a16="http://schemas.microsoft.com/office/drawing/2014/main" id="{F6AABE53-8E96-3A37-460E-2FEA93BEA7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FA446B-AA09-13E9-04D6-A6A217807E01}"/>
              </a:ext>
            </a:extLst>
          </p:cNvPr>
          <p:cNvSpPr>
            <a:spLocks noGrp="1"/>
          </p:cNvSpPr>
          <p:nvPr>
            <p:ph type="sldNum" sz="quarter" idx="12"/>
          </p:nvPr>
        </p:nvSpPr>
        <p:spPr/>
        <p:txBody>
          <a:bodyPr/>
          <a:lstStyle/>
          <a:p>
            <a:fld id="{C2484C87-D129-46E0-9333-8A29C7FEECB8}" type="slidenum">
              <a:rPr lang="en-US" smtClean="0"/>
              <a:t>‹#›</a:t>
            </a:fld>
            <a:endParaRPr lang="en-US"/>
          </a:p>
        </p:txBody>
      </p:sp>
    </p:spTree>
    <p:extLst>
      <p:ext uri="{BB962C8B-B14F-4D97-AF65-F5344CB8AC3E}">
        <p14:creationId xmlns:p14="http://schemas.microsoft.com/office/powerpoint/2010/main" val="4017456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BBDBC2-CAAF-058D-37A8-B8CD81F4687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AB53F6-778F-22C7-E09A-2958B6F32E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2A48E3-835C-FC41-9188-7F1328783B9E}"/>
              </a:ext>
            </a:extLst>
          </p:cNvPr>
          <p:cNvSpPr>
            <a:spLocks noGrp="1"/>
          </p:cNvSpPr>
          <p:nvPr>
            <p:ph type="dt" sz="half" idx="10"/>
          </p:nvPr>
        </p:nvSpPr>
        <p:spPr/>
        <p:txBody>
          <a:bodyPr/>
          <a:lstStyle/>
          <a:p>
            <a:fld id="{AC142BD5-8C06-438F-88CA-4E0543FFE0E9}" type="datetimeFigureOut">
              <a:rPr lang="en-US" smtClean="0"/>
              <a:t>9/24/2026</a:t>
            </a:fld>
            <a:endParaRPr lang="en-US"/>
          </a:p>
        </p:txBody>
      </p:sp>
      <p:sp>
        <p:nvSpPr>
          <p:cNvPr id="5" name="Footer Placeholder 4">
            <a:extLst>
              <a:ext uri="{FF2B5EF4-FFF2-40B4-BE49-F238E27FC236}">
                <a16:creationId xmlns:a16="http://schemas.microsoft.com/office/drawing/2014/main" id="{989768DE-E789-477A-B7CF-C7A88BAB77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B0A2E-F510-7C62-9D78-57D4F617AD8F}"/>
              </a:ext>
            </a:extLst>
          </p:cNvPr>
          <p:cNvSpPr>
            <a:spLocks noGrp="1"/>
          </p:cNvSpPr>
          <p:nvPr>
            <p:ph type="sldNum" sz="quarter" idx="12"/>
          </p:nvPr>
        </p:nvSpPr>
        <p:spPr/>
        <p:txBody>
          <a:bodyPr/>
          <a:lstStyle/>
          <a:p>
            <a:fld id="{C2484C87-D129-46E0-9333-8A29C7FEECB8}" type="slidenum">
              <a:rPr lang="en-US" smtClean="0"/>
              <a:t>‹#›</a:t>
            </a:fld>
            <a:endParaRPr lang="en-US"/>
          </a:p>
        </p:txBody>
      </p:sp>
    </p:spTree>
    <p:extLst>
      <p:ext uri="{BB962C8B-B14F-4D97-AF65-F5344CB8AC3E}">
        <p14:creationId xmlns:p14="http://schemas.microsoft.com/office/powerpoint/2010/main" val="3092610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D557D5-31E1-E89E-F0FE-1A09D475A7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0620B9-CB84-9459-8C5E-18B7E73090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DA32E-2374-0CA6-8931-48A0E69EC3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42BD5-8C06-438F-88CA-4E0543FFE0E9}" type="datetimeFigureOut">
              <a:rPr lang="en-US" smtClean="0"/>
              <a:t>9/24/2026</a:t>
            </a:fld>
            <a:endParaRPr lang="en-US"/>
          </a:p>
        </p:txBody>
      </p:sp>
      <p:sp>
        <p:nvSpPr>
          <p:cNvPr id="5" name="Footer Placeholder 4">
            <a:extLst>
              <a:ext uri="{FF2B5EF4-FFF2-40B4-BE49-F238E27FC236}">
                <a16:creationId xmlns:a16="http://schemas.microsoft.com/office/drawing/2014/main" id="{30DBF8B6-C103-E0FD-71B6-402A60D1FF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F733BA3-3A23-E7D6-5F96-65E0873A26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484C87-D129-46E0-9333-8A29C7FEECB8}" type="slidenum">
              <a:rPr lang="en-US" smtClean="0"/>
              <a:t>‹#›</a:t>
            </a:fld>
            <a:endParaRPr lang="en-US"/>
          </a:p>
        </p:txBody>
      </p:sp>
    </p:spTree>
    <p:extLst>
      <p:ext uri="{BB962C8B-B14F-4D97-AF65-F5344CB8AC3E}">
        <p14:creationId xmlns:p14="http://schemas.microsoft.com/office/powerpoint/2010/main" val="4170033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jpeg"/><Relationship Id="rId7" Type="http://schemas.openxmlformats.org/officeDocument/2006/relationships/image" Target="../media/image25.jpe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23.jpeg"/><Relationship Id="rId10" Type="http://schemas.openxmlformats.org/officeDocument/2006/relationships/image" Target="../media/image28.jpeg"/><Relationship Id="rId4" Type="http://schemas.openxmlformats.org/officeDocument/2006/relationships/image" Target="../media/image22.jpeg"/><Relationship Id="rId9" Type="http://schemas.openxmlformats.org/officeDocument/2006/relationships/image" Target="../media/image27.jpeg"/></Relationships>
</file>

<file path=ppt/slides/_rels/slide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1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1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jpeg"/></Relationships>
</file>

<file path=ppt/slides/_rels/slide1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1.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s>
</file>

<file path=ppt/slides/_rels/slide1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1.xml"/><Relationship Id="rId4" Type="http://schemas.openxmlformats.org/officeDocument/2006/relationships/image" Target="../media/image46.jpeg"/></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5.jpeg"/><Relationship Id="rId7" Type="http://schemas.openxmlformats.org/officeDocument/2006/relationships/image" Target="../media/image59.jpeg"/><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image" Target="../media/image58.jpeg"/><Relationship Id="rId5" Type="http://schemas.openxmlformats.org/officeDocument/2006/relationships/image" Target="../media/image57.jpeg"/><Relationship Id="rId4" Type="http://schemas.openxmlformats.org/officeDocument/2006/relationships/image" Target="../media/image56.jpeg"/></Relationships>
</file>

<file path=ppt/slides/_rels/slide1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image" Target="../media/image62.jpeg"/></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2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 Id="rId5" Type="http://schemas.openxmlformats.org/officeDocument/2006/relationships/image" Target="../media/image69.png"/><Relationship Id="rId4" Type="http://schemas.openxmlformats.org/officeDocument/2006/relationships/image" Target="../media/image68.png"/></Relationships>
</file>

<file path=ppt/slides/_rels/slide2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24.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2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2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7.png"/></Relationships>
</file>

<file path=ppt/slides/_rels/slide2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101.png"/></Relationships>
</file>

<file path=ppt/slides/_rels/slide3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3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1.xml"/><Relationship Id="rId4" Type="http://schemas.openxmlformats.org/officeDocument/2006/relationships/image" Target="../media/image110.png"/></Relationships>
</file>

<file path=ppt/slides/_rels/slide3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3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 Id="rId5" Type="http://schemas.openxmlformats.org/officeDocument/2006/relationships/image" Target="../media/image118.png"/><Relationship Id="rId4" Type="http://schemas.openxmlformats.org/officeDocument/2006/relationships/image" Target="../media/image117.png"/></Relationships>
</file>

<file path=ppt/slides/_rels/slide3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 Id="rId5" Type="http://schemas.openxmlformats.org/officeDocument/2006/relationships/image" Target="../media/image122.png"/><Relationship Id="rId4" Type="http://schemas.openxmlformats.org/officeDocument/2006/relationships/image" Target="../media/image121.png"/></Relationships>
</file>

<file path=ppt/slides/_rels/slide35.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1.xml"/><Relationship Id="rId5" Type="http://schemas.openxmlformats.org/officeDocument/2006/relationships/image" Target="../media/image126.png"/><Relationship Id="rId4" Type="http://schemas.openxmlformats.org/officeDocument/2006/relationships/image" Target="../media/image125.png"/></Relationships>
</file>

<file path=ppt/slides/_rels/slide3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 Id="rId5" Type="http://schemas.openxmlformats.org/officeDocument/2006/relationships/image" Target="../media/image130.png"/><Relationship Id="rId4" Type="http://schemas.openxmlformats.org/officeDocument/2006/relationships/image" Target="../media/image129.png"/></Relationships>
</file>

<file path=ppt/slides/_rels/slide3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 Id="rId5" Type="http://schemas.openxmlformats.org/officeDocument/2006/relationships/image" Target="../media/image134.png"/><Relationship Id="rId4" Type="http://schemas.openxmlformats.org/officeDocument/2006/relationships/image" Target="../media/image133.png"/></Relationships>
</file>

<file path=ppt/slides/_rels/slide3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 Id="rId4" Type="http://schemas.openxmlformats.org/officeDocument/2006/relationships/image" Target="../media/image137.png"/></Relationships>
</file>

<file path=ppt/slides/_rels/slide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9B5C384E-5018-1144-4589-F1536755D2AA}"/>
              </a:ext>
            </a:extLst>
          </p:cNvPr>
          <p:cNvSpPr txBox="1"/>
          <p:nvPr/>
        </p:nvSpPr>
        <p:spPr bwMode="auto">
          <a:xfrm>
            <a:off x="1231935" y="1865378"/>
            <a:ext cx="9725009" cy="1405641"/>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vert="horz" wrap="square" lIns="91440" tIns="45720" rIns="91440" bIns="4572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267" b="1" dirty="0">
                <a:solidFill>
                  <a:srgbClr val="00B0F0"/>
                </a:solidFill>
                <a:latin typeface="Arial"/>
                <a:ea typeface="SimSun" panose="02010600030101010101" pitchFamily="2" charset="-122"/>
              </a:rPr>
              <a:t>F</a:t>
            </a:r>
            <a:r>
              <a:rPr kumimoji="0" lang="en-US" sz="4267" b="1" i="0" u="none" strike="noStrike" kern="1200" cap="none" spc="0" normalizeH="0" baseline="0" noProof="0" dirty="0" err="1">
                <a:ln>
                  <a:noFill/>
                </a:ln>
                <a:solidFill>
                  <a:srgbClr val="00B0F0"/>
                </a:solidFill>
                <a:effectLst/>
                <a:uLnTx/>
                <a:uFillTx/>
                <a:latin typeface="Arial"/>
                <a:ea typeface="SimSun" panose="02010600030101010101" pitchFamily="2" charset="-122"/>
                <a:cs typeface="+mn-cs"/>
              </a:rPr>
              <a:t>easibility</a:t>
            </a:r>
            <a:r>
              <a:rPr kumimoji="0" lang="en-US" sz="4267" b="1" i="0" u="none" strike="noStrike" kern="1200" cap="none" spc="0" normalizeH="0" baseline="0" noProof="0">
                <a:ln>
                  <a:noFill/>
                </a:ln>
                <a:solidFill>
                  <a:srgbClr val="00B0F0"/>
                </a:solidFill>
                <a:effectLst/>
                <a:uLnTx/>
                <a:uFillTx/>
                <a:latin typeface="Arial"/>
                <a:ea typeface="SimSun" panose="02010600030101010101" pitchFamily="2" charset="-122"/>
                <a:cs typeface="+mn-cs"/>
              </a:rPr>
              <a:t> Survey </a:t>
            </a:r>
            <a:r>
              <a:rPr kumimoji="0" lang="en-US" sz="4267" b="1" i="0" u="none" strike="noStrike" kern="1200" cap="none" spc="0" normalizeH="0" baseline="0" noProof="0" dirty="0">
                <a:ln>
                  <a:noFill/>
                </a:ln>
                <a:solidFill>
                  <a:srgbClr val="00B0F0"/>
                </a:solidFill>
                <a:effectLst/>
                <a:uLnTx/>
                <a:uFillTx/>
                <a:latin typeface="Arial"/>
                <a:ea typeface="SimSun" panose="02010600030101010101" pitchFamily="2" charset="-122"/>
                <a:cs typeface="+mn-cs"/>
              </a:rPr>
              <a:t>for Core </a:t>
            </a:r>
            <a:r>
              <a:rPr lang="en-US" sz="4267" b="1" dirty="0">
                <a:solidFill>
                  <a:srgbClr val="00B0F0"/>
                </a:solidFill>
                <a:latin typeface="Arial"/>
                <a:ea typeface="SimSun" panose="02010600030101010101" pitchFamily="2" charset="-122"/>
              </a:rPr>
              <a:t>R</a:t>
            </a:r>
            <a:r>
              <a:rPr kumimoji="0" lang="en-US" sz="4267" b="1" i="0" u="none" strike="noStrike" kern="1200" cap="none" spc="0" normalizeH="0" baseline="0" noProof="0" dirty="0" err="1">
                <a:ln>
                  <a:noFill/>
                </a:ln>
                <a:solidFill>
                  <a:srgbClr val="00B0F0"/>
                </a:solidFill>
                <a:effectLst/>
                <a:uLnTx/>
                <a:uFillTx/>
                <a:latin typeface="Arial"/>
                <a:ea typeface="SimSun" panose="02010600030101010101" pitchFamily="2" charset="-122"/>
                <a:cs typeface="+mn-cs"/>
              </a:rPr>
              <a:t>eadiness</a:t>
            </a:r>
            <a:r>
              <a:rPr kumimoji="0" lang="en-US" sz="4267" b="1" i="0" u="none" strike="noStrike" kern="1200" cap="none" spc="0" normalizeH="0" baseline="0" noProof="0" dirty="0">
                <a:ln>
                  <a:noFill/>
                </a:ln>
                <a:solidFill>
                  <a:srgbClr val="00B0F0"/>
                </a:solidFill>
                <a:effectLst/>
                <a:uLnTx/>
                <a:uFillTx/>
                <a:latin typeface="Arial"/>
                <a:ea typeface="SimSun" panose="02010600030101010101" pitchFamily="2" charset="-122"/>
                <a:cs typeface="+mn-cs"/>
              </a:rPr>
              <a:t> work</a:t>
            </a:r>
          </a:p>
        </p:txBody>
      </p:sp>
      <p:sp>
        <p:nvSpPr>
          <p:cNvPr id="7" name="Title 3">
            <a:extLst>
              <a:ext uri="{FF2B5EF4-FFF2-40B4-BE49-F238E27FC236}">
                <a16:creationId xmlns:a16="http://schemas.microsoft.com/office/drawing/2014/main" id="{60109971-DB3A-3850-DF15-F6D0997F18EF}"/>
              </a:ext>
            </a:extLst>
          </p:cNvPr>
          <p:cNvSpPr txBox="1"/>
          <p:nvPr/>
        </p:nvSpPr>
        <p:spPr bwMode="auto">
          <a:xfrm>
            <a:off x="1231934" y="4387413"/>
            <a:ext cx="9725009" cy="502766"/>
          </a:xfrm>
          <a:prstGeom prst="rect">
            <a:avLst/>
          </a:prstGeom>
          <a:noFill/>
        </p:spPr>
        <p:txBody>
          <a:bodyPr vert="horz" wrap="square" lIns="91440" tIns="45720" rIns="91440" bIns="4572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667" b="1" dirty="0">
                <a:solidFill>
                  <a:prstClr val="white"/>
                </a:solidFill>
                <a:latin typeface="Arial"/>
                <a:ea typeface="SimSun" panose="02010600030101010101" pitchFamily="2" charset="-122"/>
              </a:rPr>
              <a:t>Kalaiya to Chapur</a:t>
            </a:r>
            <a:endParaRPr kumimoji="0" lang="en-US" sz="2667" b="1" i="0" u="none" strike="noStrike" kern="1200" cap="none" spc="0" normalizeH="0" baseline="0" noProof="0" dirty="0">
              <a:ln>
                <a:noFill/>
              </a:ln>
              <a:solidFill>
                <a:prstClr val="white"/>
              </a:solidFill>
              <a:effectLst/>
              <a:uLnTx/>
              <a:uFillTx/>
              <a:latin typeface="Arial"/>
              <a:ea typeface="SimSun" panose="02010600030101010101" pitchFamily="2" charset="-122"/>
              <a:cs typeface="+mn-cs"/>
            </a:endParaRPr>
          </a:p>
        </p:txBody>
      </p:sp>
      <p:sp>
        <p:nvSpPr>
          <p:cNvPr id="2" name="Title 1">
            <a:extLst>
              <a:ext uri="{FF2B5EF4-FFF2-40B4-BE49-F238E27FC236}">
                <a16:creationId xmlns:a16="http://schemas.microsoft.com/office/drawing/2014/main" id="{8ADBF6B1-AC5B-4792-6B3F-7AEE67B07F4D}"/>
              </a:ext>
            </a:extLst>
          </p:cNvPr>
          <p:cNvSpPr txBox="1">
            <a:spLocks/>
          </p:cNvSpPr>
          <p:nvPr/>
        </p:nvSpPr>
        <p:spPr>
          <a:xfrm>
            <a:off x="10956944" y="6283075"/>
            <a:ext cx="849521" cy="43205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1800" kern="1200">
                <a:solidFill>
                  <a:schemeClr val="bg1"/>
                </a:solidFill>
                <a:latin typeface="Myriad Pro" pitchFamily="34" charset="0"/>
                <a:ea typeface="+mj-ea"/>
                <a:cs typeface="+mj-cs"/>
              </a:defRPr>
            </a:lvl1p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srgbClr val="00B0F0"/>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rPr>
              <a:t>ZTE</a:t>
            </a:r>
            <a:endParaRPr kumimoji="0" lang="en-US" altLang="en-US" sz="2400" b="0" i="0" u="none" strike="noStrike" kern="1200" cap="none" spc="0" normalizeH="0" baseline="0" noProof="0" dirty="0">
              <a:ln>
                <a:noFill/>
              </a:ln>
              <a:solidFill>
                <a:srgbClr val="00B0F0"/>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4" name="Title 1">
            <a:extLst>
              <a:ext uri="{FF2B5EF4-FFF2-40B4-BE49-F238E27FC236}">
                <a16:creationId xmlns:a16="http://schemas.microsoft.com/office/drawing/2014/main" id="{4556FAB2-C81A-7087-FD21-3C711CC6F1D4}"/>
              </a:ext>
            </a:extLst>
          </p:cNvPr>
          <p:cNvSpPr txBox="1">
            <a:spLocks/>
          </p:cNvSpPr>
          <p:nvPr/>
        </p:nvSpPr>
        <p:spPr>
          <a:xfrm>
            <a:off x="0" y="6283075"/>
            <a:ext cx="1521033" cy="432051"/>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1800" kern="1200">
                <a:solidFill>
                  <a:schemeClr val="bg1"/>
                </a:solidFill>
                <a:latin typeface="Myriad Pro" pitchFamily="34" charset="0"/>
                <a:ea typeface="+mj-ea"/>
                <a:cs typeface="+mj-cs"/>
              </a:defRPr>
            </a:lvl1p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en-US" altLang="en-US" sz="3200" b="0" i="0" u="none" strike="noStrike" kern="1200" cap="none" spc="0" normalizeH="0" baseline="0" noProof="0" dirty="0">
                <a:ln>
                  <a:noFill/>
                </a:ln>
                <a:solidFill>
                  <a:srgbClr val="7030A0"/>
                </a:solidFill>
                <a:effectLst/>
                <a:uLnTx/>
                <a:uFillTx/>
                <a:latin typeface="Arial Rounded MT Bold" panose="020F0704030504030204" pitchFamily="34" charset="0"/>
                <a:ea typeface="Cascadia Mono SemiBold" panose="020B0609020000020004" pitchFamily="49" charset="0"/>
                <a:cs typeface="Cascadia Mono SemiBold" panose="020B0609020000020004" pitchFamily="49" charset="0"/>
              </a:rPr>
              <a:t>Ncell</a:t>
            </a:r>
            <a:endParaRPr kumimoji="0" lang="en-US" altLang="en-US" sz="2800" b="0" i="0" u="none" strike="noStrike" kern="1200" cap="none" spc="0" normalizeH="0" baseline="0" noProof="0" dirty="0">
              <a:ln>
                <a:noFill/>
              </a:ln>
              <a:solidFill>
                <a:srgbClr val="7030A0"/>
              </a:solidFill>
              <a:effectLst/>
              <a:uLnTx/>
              <a:uFillTx/>
              <a:latin typeface="Arial Rounded MT Bold" panose="020F0704030504030204" pitchFamily="34" charset="0"/>
              <a:ea typeface="Cascadia Mono SemiBold" panose="020B0609020000020004" pitchFamily="49" charset="0"/>
              <a:cs typeface="Cascadia Mono SemiBold" panose="020B0609020000020004" pitchFamily="49" charset="0"/>
            </a:endParaRPr>
          </a:p>
        </p:txBody>
      </p:sp>
    </p:spTree>
    <p:extLst>
      <p:ext uri="{BB962C8B-B14F-4D97-AF65-F5344CB8AC3E}">
        <p14:creationId xmlns:p14="http://schemas.microsoft.com/office/powerpoint/2010/main" val="3673429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3F4182F-A018-FBDE-7953-4C4E22B7580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9F670AF-B4AA-01DE-286E-F06456DD71D2}"/>
              </a:ext>
            </a:extLst>
          </p:cNvPr>
          <p:cNvSpPr txBox="1">
            <a:spLocks/>
          </p:cNvSpPr>
          <p:nvPr/>
        </p:nvSpPr>
        <p:spPr>
          <a:xfrm>
            <a:off x="255379" y="147618"/>
            <a:ext cx="10444895" cy="469156"/>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1800" kern="1200">
                <a:solidFill>
                  <a:schemeClr val="bg1"/>
                </a:solidFill>
                <a:latin typeface="Myriad Pro" pitchFamily="34" charset="0"/>
                <a:ea typeface="+mj-ea"/>
                <a:cs typeface="+mj-cs"/>
              </a:defRPr>
            </a:lvl1p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7030A0"/>
                </a:solidFill>
                <a:effectLst/>
                <a:uLnTx/>
                <a:uFillTx/>
                <a:latin typeface="Arial" pitchFamily="34" charset="0"/>
                <a:ea typeface="+mj-ea"/>
                <a:cs typeface="Arial" pitchFamily="34" charset="0"/>
              </a:rPr>
              <a:t>Bypass proposed length</a:t>
            </a:r>
          </a:p>
        </p:txBody>
      </p:sp>
      <p:graphicFrame>
        <p:nvGraphicFramePr>
          <p:cNvPr id="3" name="Table 2">
            <a:extLst>
              <a:ext uri="{FF2B5EF4-FFF2-40B4-BE49-F238E27FC236}">
                <a16:creationId xmlns:a16="http://schemas.microsoft.com/office/drawing/2014/main" id="{D1BE41CE-EB12-1E94-CCD6-1A617D066896}"/>
              </a:ext>
            </a:extLst>
          </p:cNvPr>
          <p:cNvGraphicFramePr>
            <a:graphicFrameLocks noGrp="1"/>
          </p:cNvGraphicFramePr>
          <p:nvPr>
            <p:extLst>
              <p:ext uri="{D42A27DB-BD31-4B8C-83A1-F6EECF244321}">
                <p14:modId xmlns:p14="http://schemas.microsoft.com/office/powerpoint/2010/main" val="3342980343"/>
              </p:ext>
            </p:extLst>
          </p:nvPr>
        </p:nvGraphicFramePr>
        <p:xfrm>
          <a:off x="978569" y="978567"/>
          <a:ext cx="10266947" cy="5037220"/>
        </p:xfrm>
        <a:graphic>
          <a:graphicData uri="http://schemas.openxmlformats.org/drawingml/2006/table">
            <a:tbl>
              <a:tblPr/>
              <a:tblGrid>
                <a:gridCol w="1098448">
                  <a:extLst>
                    <a:ext uri="{9D8B030D-6E8A-4147-A177-3AD203B41FA5}">
                      <a16:colId xmlns:a16="http://schemas.microsoft.com/office/drawing/2014/main" val="1093865412"/>
                    </a:ext>
                  </a:extLst>
                </a:gridCol>
                <a:gridCol w="1098448">
                  <a:extLst>
                    <a:ext uri="{9D8B030D-6E8A-4147-A177-3AD203B41FA5}">
                      <a16:colId xmlns:a16="http://schemas.microsoft.com/office/drawing/2014/main" val="2447452539"/>
                    </a:ext>
                  </a:extLst>
                </a:gridCol>
                <a:gridCol w="1665389">
                  <a:extLst>
                    <a:ext uri="{9D8B030D-6E8A-4147-A177-3AD203B41FA5}">
                      <a16:colId xmlns:a16="http://schemas.microsoft.com/office/drawing/2014/main" val="3743016371"/>
                    </a:ext>
                  </a:extLst>
                </a:gridCol>
                <a:gridCol w="2378495">
                  <a:extLst>
                    <a:ext uri="{9D8B030D-6E8A-4147-A177-3AD203B41FA5}">
                      <a16:colId xmlns:a16="http://schemas.microsoft.com/office/drawing/2014/main" val="4123455524"/>
                    </a:ext>
                  </a:extLst>
                </a:gridCol>
                <a:gridCol w="4026167">
                  <a:extLst>
                    <a:ext uri="{9D8B030D-6E8A-4147-A177-3AD203B41FA5}">
                      <a16:colId xmlns:a16="http://schemas.microsoft.com/office/drawing/2014/main" val="3785233981"/>
                    </a:ext>
                  </a:extLst>
                </a:gridCol>
              </a:tblGrid>
              <a:tr h="503722">
                <a:tc>
                  <a:txBody>
                    <a:bodyPr/>
                    <a:lstStyle/>
                    <a:p>
                      <a:pPr algn="ctr" rtl="0" fontAlgn="ctr">
                        <a:buNone/>
                      </a:pPr>
                      <a:r>
                        <a:rPr lang="en-US" sz="1800" b="0" i="0" u="none" strike="noStrike">
                          <a:solidFill>
                            <a:srgbClr val="000000"/>
                          </a:solidFill>
                          <a:effectLst/>
                          <a:latin typeface="Arial" panose="020B0604020202020204" pitchFamily="34" charset="0"/>
                        </a:rPr>
                        <a:t>From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rtl="0" fontAlgn="ctr">
                        <a:buNone/>
                      </a:pPr>
                      <a:r>
                        <a:rPr lang="en-US" sz="1800" b="0" i="0" u="none" strike="noStrike">
                          <a:solidFill>
                            <a:srgbClr val="000000"/>
                          </a:solidFill>
                          <a:effectLst/>
                          <a:latin typeface="Arial" panose="020B0604020202020204" pitchFamily="34" charset="0"/>
                        </a:rPr>
                        <a:t>Towards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rtl="0" fontAlgn="ctr">
                        <a:buNone/>
                      </a:pPr>
                      <a:r>
                        <a:rPr lang="en-US" sz="1800" b="0" i="0" u="none" strike="noStrike" dirty="0">
                          <a:solidFill>
                            <a:srgbClr val="000000"/>
                          </a:solidFill>
                          <a:effectLst/>
                          <a:latin typeface="Arial" panose="020B0604020202020204" pitchFamily="34" charset="0"/>
                        </a:rPr>
                        <a:t>Distance(KM)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rtl="0" fontAlgn="ctr">
                        <a:buNone/>
                      </a:pPr>
                      <a:r>
                        <a:rPr lang="en-US" sz="1800" b="0" i="0" u="none" strike="noStrike">
                          <a:solidFill>
                            <a:srgbClr val="000000"/>
                          </a:solidFill>
                          <a:effectLst/>
                          <a:latin typeface="Arial" panose="020B0604020202020204" pitchFamily="34" charset="0"/>
                        </a:rPr>
                        <a:t>Proposed length(M)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tc>
                  <a:txBody>
                    <a:bodyPr/>
                    <a:lstStyle/>
                    <a:p>
                      <a:pPr algn="ctr" rtl="0" fontAlgn="ctr">
                        <a:buNone/>
                      </a:pPr>
                      <a:r>
                        <a:rPr lang="en-US" sz="1800" b="0" i="0" u="none" strike="noStrike">
                          <a:solidFill>
                            <a:srgbClr val="000000"/>
                          </a:solidFill>
                          <a:effectLst/>
                          <a:latin typeface="Arial" panose="020B0604020202020204" pitchFamily="34" charset="0"/>
                        </a:rPr>
                        <a:t>Bypass type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ADAD"/>
                    </a:solidFill>
                  </a:tcPr>
                </a:tc>
                <a:extLst>
                  <a:ext uri="{0D108BD9-81ED-4DB2-BD59-A6C34878D82A}">
                    <a16:rowId xmlns:a16="http://schemas.microsoft.com/office/drawing/2014/main" val="3016881740"/>
                  </a:ext>
                </a:extLst>
              </a:tr>
              <a:tr h="503722">
                <a:tc>
                  <a:txBody>
                    <a:bodyPr/>
                    <a:lstStyle/>
                    <a:p>
                      <a:pPr algn="ctr" rtl="0" fontAlgn="b">
                        <a:buNone/>
                      </a:pPr>
                      <a:r>
                        <a:rPr lang="en-US" sz="1800" b="0" i="0" u="none" strike="noStrike">
                          <a:solidFill>
                            <a:srgbClr val="000000"/>
                          </a:solidFill>
                          <a:effectLst/>
                          <a:latin typeface="Arial" panose="020B0604020202020204" pitchFamily="34" charset="0"/>
                        </a:rPr>
                        <a:t>NAR014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000000"/>
                          </a:solidFill>
                          <a:effectLst/>
                          <a:latin typeface="Arial" panose="020B0604020202020204" pitchFamily="34" charset="0"/>
                        </a:rPr>
                        <a:t>NAR402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2500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UG(15joints)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9465732"/>
                  </a:ext>
                </a:extLst>
              </a:tr>
              <a:tr h="503722">
                <a:tc>
                  <a:txBody>
                    <a:bodyPr/>
                    <a:lstStyle/>
                    <a:p>
                      <a:pPr algn="ctr" rtl="0" fontAlgn="b">
                        <a:buNone/>
                      </a:pPr>
                      <a:r>
                        <a:rPr lang="en-US" sz="1800" b="0" i="0" u="none" strike="noStrike">
                          <a:solidFill>
                            <a:srgbClr val="000000"/>
                          </a:solidFill>
                          <a:effectLst/>
                          <a:latin typeface="Arial" panose="020B0604020202020204" pitchFamily="34" charset="0"/>
                        </a:rPr>
                        <a:t>NAR014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000000"/>
                          </a:solidFill>
                          <a:effectLst/>
                          <a:latin typeface="Arial" panose="020B0604020202020204" pitchFamily="34" charset="0"/>
                        </a:rPr>
                        <a:t>NAR402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12.1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600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300 UG 300 ADSS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1468544"/>
                  </a:ext>
                </a:extLst>
              </a:tr>
              <a:tr h="503722">
                <a:tc>
                  <a:txBody>
                    <a:bodyPr/>
                    <a:lstStyle/>
                    <a:p>
                      <a:pPr algn="ctr" rtl="0" fontAlgn="b">
                        <a:buNone/>
                      </a:pPr>
                      <a:r>
                        <a:rPr lang="en-US" sz="1800" b="0" i="0" u="none" strike="noStrike">
                          <a:solidFill>
                            <a:srgbClr val="000000"/>
                          </a:solidFill>
                          <a:effectLst/>
                          <a:latin typeface="Arial" panose="020B0604020202020204" pitchFamily="34" charset="0"/>
                        </a:rPr>
                        <a:t>NAR014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000000"/>
                          </a:solidFill>
                          <a:effectLst/>
                          <a:latin typeface="Arial" panose="020B0604020202020204" pitchFamily="34" charset="0"/>
                        </a:rPr>
                        <a:t>NAR402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16.4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1400 UG 100 ADSS (GI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6109494"/>
                  </a:ext>
                </a:extLst>
              </a:tr>
              <a:tr h="503722">
                <a:tc>
                  <a:txBody>
                    <a:bodyPr/>
                    <a:lstStyle/>
                    <a:p>
                      <a:pPr algn="ctr" rtl="0" fontAlgn="b">
                        <a:buNone/>
                      </a:pPr>
                      <a:r>
                        <a:rPr lang="en-US" sz="1800" b="0" i="0" u="none" strike="noStrike">
                          <a:solidFill>
                            <a:srgbClr val="000000"/>
                          </a:solidFill>
                          <a:effectLst/>
                          <a:latin typeface="Arial" panose="020B0604020202020204" pitchFamily="34" charset="0"/>
                        </a:rPr>
                        <a:t>NAR014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000000"/>
                          </a:solidFill>
                          <a:effectLst/>
                          <a:latin typeface="Arial" panose="020B0604020202020204" pitchFamily="34" charset="0"/>
                        </a:rPr>
                        <a:t>NAR402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20.5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dirty="0">
                          <a:solidFill>
                            <a:srgbClr val="000000"/>
                          </a:solidFill>
                          <a:effectLst/>
                          <a:latin typeface="Arial" panose="020B0604020202020204" pitchFamily="34" charset="0"/>
                        </a:rPr>
                        <a:t>500 UG 1000 ADSS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9192045"/>
                  </a:ext>
                </a:extLst>
              </a:tr>
              <a:tr h="503722">
                <a:tc>
                  <a:txBody>
                    <a:bodyPr/>
                    <a:lstStyle/>
                    <a:p>
                      <a:pPr algn="ctr" rtl="0" fontAlgn="b">
                        <a:buNone/>
                      </a:pPr>
                      <a:r>
                        <a:rPr lang="en-US" sz="1800" b="0" i="0" u="none" strike="noStrike">
                          <a:solidFill>
                            <a:srgbClr val="000000"/>
                          </a:solidFill>
                          <a:effectLst/>
                          <a:latin typeface="Arial" panose="020B0604020202020204" pitchFamily="34" charset="0"/>
                        </a:rPr>
                        <a:t>NAR014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000000"/>
                          </a:solidFill>
                          <a:effectLst/>
                          <a:latin typeface="Arial" panose="020B0604020202020204" pitchFamily="34" charset="0"/>
                        </a:rPr>
                        <a:t>NAR402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24.2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2200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dirty="0">
                          <a:solidFill>
                            <a:srgbClr val="000000"/>
                          </a:solidFill>
                          <a:effectLst/>
                          <a:latin typeface="Arial" panose="020B0604020202020204" pitchFamily="34" charset="0"/>
                        </a:rPr>
                        <a:t>700 UG 1500 ADSS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0210712"/>
                  </a:ext>
                </a:extLst>
              </a:tr>
              <a:tr h="503722">
                <a:tc>
                  <a:txBody>
                    <a:bodyPr/>
                    <a:lstStyle/>
                    <a:p>
                      <a:pPr algn="ctr" rtl="0" fontAlgn="b">
                        <a:buNone/>
                      </a:pPr>
                      <a:r>
                        <a:rPr lang="en-US" sz="1800" b="0" i="0" u="none" strike="noStrike">
                          <a:solidFill>
                            <a:srgbClr val="000000"/>
                          </a:solidFill>
                          <a:effectLst/>
                          <a:latin typeface="Arial" panose="020B0604020202020204" pitchFamily="34" charset="0"/>
                        </a:rPr>
                        <a:t>NAR014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000000"/>
                          </a:solidFill>
                          <a:effectLst/>
                          <a:latin typeface="Arial" panose="020B0604020202020204" pitchFamily="34" charset="0"/>
                        </a:rPr>
                        <a:t>NAR402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29.5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ADSS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4045908"/>
                  </a:ext>
                </a:extLst>
              </a:tr>
              <a:tr h="503722">
                <a:tc>
                  <a:txBody>
                    <a:bodyPr/>
                    <a:lstStyle/>
                    <a:p>
                      <a:pPr algn="ctr" rtl="0" fontAlgn="b">
                        <a:buNone/>
                      </a:pPr>
                      <a:r>
                        <a:rPr lang="en-US" sz="1800" b="0" i="0" u="none" strike="noStrike">
                          <a:solidFill>
                            <a:srgbClr val="000000"/>
                          </a:solidFill>
                          <a:effectLst/>
                          <a:latin typeface="Arial" panose="020B0604020202020204" pitchFamily="34" charset="0"/>
                        </a:rPr>
                        <a:t>NAR014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000000"/>
                          </a:solidFill>
                          <a:effectLst/>
                          <a:latin typeface="Arial" panose="020B0604020202020204" pitchFamily="34" charset="0"/>
                        </a:rPr>
                        <a:t>NAR402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37.5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3000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dirty="0">
                          <a:solidFill>
                            <a:srgbClr val="000000"/>
                          </a:solidFill>
                          <a:effectLst/>
                          <a:latin typeface="Arial" panose="020B0604020202020204" pitchFamily="34" charset="0"/>
                        </a:rPr>
                        <a:t>2500 UG, 500 ADSS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322641"/>
                  </a:ext>
                </a:extLst>
              </a:tr>
              <a:tr h="503722">
                <a:tc>
                  <a:txBody>
                    <a:bodyPr/>
                    <a:lstStyle/>
                    <a:p>
                      <a:pPr algn="ctr" rtl="0" fontAlgn="b">
                        <a:buNone/>
                      </a:pPr>
                      <a:r>
                        <a:rPr lang="en-US" sz="1800" b="0" i="0" u="none" strike="noStrike">
                          <a:solidFill>
                            <a:srgbClr val="000000"/>
                          </a:solidFill>
                          <a:effectLst/>
                          <a:latin typeface="Arial" panose="020B0604020202020204" pitchFamily="34" charset="0"/>
                        </a:rPr>
                        <a:t>NAR402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000000"/>
                          </a:solidFill>
                          <a:effectLst/>
                          <a:latin typeface="Arial" panose="020B0604020202020204" pitchFamily="34" charset="0"/>
                        </a:rPr>
                        <a:t>NAR014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000000"/>
                          </a:solidFill>
                          <a:effectLst/>
                          <a:latin typeface="Arial" panose="020B0604020202020204" pitchFamily="34" charset="0"/>
                        </a:rPr>
                        <a:t>3500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dirty="0">
                          <a:solidFill>
                            <a:srgbClr val="000000"/>
                          </a:solidFill>
                          <a:effectLst/>
                          <a:latin typeface="Arial" panose="020B0604020202020204" pitchFamily="34" charset="0"/>
                        </a:rPr>
                        <a:t>2000 UG 1500 ADSS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9460739"/>
                  </a:ext>
                </a:extLst>
              </a:tr>
              <a:tr h="503722">
                <a:tc gridSpan="3">
                  <a:txBody>
                    <a:bodyPr/>
                    <a:lstStyle/>
                    <a:p>
                      <a:pPr algn="ctr" rtl="0" fontAlgn="b">
                        <a:buNone/>
                      </a:pPr>
                      <a:r>
                        <a:rPr lang="en-US" sz="1800" b="0" i="0" u="none" strike="noStrike">
                          <a:solidFill>
                            <a:srgbClr val="000000"/>
                          </a:solidFill>
                          <a:effectLst/>
                          <a:latin typeface="Arial" panose="020B0604020202020204" pitchFamily="34" charset="0"/>
                        </a:rPr>
                        <a:t>Total Length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ctr" rtl="0" fontAlgn="ctr">
                        <a:buNone/>
                      </a:pPr>
                      <a:r>
                        <a:rPr lang="en-US" sz="1800" b="0" i="0" u="none" strike="noStrike">
                          <a:solidFill>
                            <a:srgbClr val="000000"/>
                          </a:solidFill>
                          <a:effectLst/>
                          <a:latin typeface="Arial" panose="020B0604020202020204" pitchFamily="34" charset="0"/>
                        </a:rPr>
                        <a:t>15300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9273087"/>
                  </a:ext>
                </a:extLst>
              </a:tr>
            </a:tbl>
          </a:graphicData>
        </a:graphic>
      </p:graphicFrame>
    </p:spTree>
    <p:extLst>
      <p:ext uri="{BB962C8B-B14F-4D97-AF65-F5344CB8AC3E}">
        <p14:creationId xmlns:p14="http://schemas.microsoft.com/office/powerpoint/2010/main" val="1934817700"/>
      </p:ext>
    </p:extLst>
  </p:cSld>
  <p:clrMapOvr>
    <a:masterClrMapping/>
  </p:clrMapOvr>
  <p:transition advClick="0">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ECF2A-9613-9FA4-E26D-D103D28FBAD5}"/>
              </a:ext>
            </a:extLst>
          </p:cNvPr>
          <p:cNvSpPr>
            <a:spLocks noGrp="1"/>
          </p:cNvSpPr>
          <p:nvPr>
            <p:ph type="title"/>
          </p:nvPr>
        </p:nvSpPr>
        <p:spPr>
          <a:xfrm>
            <a:off x="838199" y="100957"/>
            <a:ext cx="10515600" cy="517751"/>
          </a:xfrm>
        </p:spPr>
        <p:txBody>
          <a:bodyPr>
            <a:noAutofit/>
          </a:bodyPr>
          <a:lstStyle/>
          <a:p>
            <a:pPr algn="ctr"/>
            <a:r>
              <a:rPr lang="en-US" altLang="en-US" sz="2000" b="1" dirty="0">
                <a:solidFill>
                  <a:srgbClr val="7030A0"/>
                </a:solidFill>
                <a:latin typeface="Arial" pitchFamily="34" charset="0"/>
                <a:cs typeface="Arial" pitchFamily="34" charset="0"/>
              </a:rPr>
              <a:t>NAR014-NAR402 Rework Feasibility Survey</a:t>
            </a:r>
            <a:br>
              <a:rPr lang="en-US" altLang="en-US" sz="2000" b="1" dirty="0">
                <a:solidFill>
                  <a:srgbClr val="7030A0"/>
                </a:solidFill>
                <a:latin typeface="Arial" pitchFamily="34" charset="0"/>
                <a:cs typeface="Arial" pitchFamily="34" charset="0"/>
              </a:rPr>
            </a:br>
            <a:endParaRPr lang="en-US" sz="2000" dirty="0"/>
          </a:p>
        </p:txBody>
      </p:sp>
      <p:sp>
        <p:nvSpPr>
          <p:cNvPr id="3" name="Content Placeholder 2">
            <a:extLst>
              <a:ext uri="{FF2B5EF4-FFF2-40B4-BE49-F238E27FC236}">
                <a16:creationId xmlns:a16="http://schemas.microsoft.com/office/drawing/2014/main" id="{10F3A313-F9FA-6EC1-EB09-1407975BD7FD}"/>
              </a:ext>
            </a:extLst>
          </p:cNvPr>
          <p:cNvSpPr>
            <a:spLocks noGrp="1"/>
          </p:cNvSpPr>
          <p:nvPr>
            <p:ph idx="1"/>
          </p:nvPr>
        </p:nvSpPr>
        <p:spPr>
          <a:xfrm>
            <a:off x="-1" y="486112"/>
            <a:ext cx="12191999" cy="6063343"/>
          </a:xfrm>
        </p:spPr>
        <p:txBody>
          <a:bodyPr>
            <a:normAutofit/>
          </a:bodyPr>
          <a:lstStyle/>
          <a:p>
            <a:r>
              <a:rPr lang="en-US" sz="2000" dirty="0"/>
              <a:t>Proposed to rework for the core readiness work in Kalaiya to Chapur route and OTDR distance is approx.90km.</a:t>
            </a:r>
          </a:p>
          <a:p>
            <a:r>
              <a:rPr lang="en-US" sz="2000" dirty="0"/>
              <a:t>Previously road was narrow and after road expansion and culvert construction area there was maximum cut whereas during link restoration all cores are not spliced and buried inside road before handover.</a:t>
            </a:r>
          </a:p>
          <a:p>
            <a:r>
              <a:rPr lang="en-US" sz="2000" dirty="0"/>
              <a:t>Existing fiber lies inside the road in market area and culvert construction area whereas remaining section fiber lies in personal property(paddy area).</a:t>
            </a:r>
          </a:p>
        </p:txBody>
      </p:sp>
      <p:graphicFrame>
        <p:nvGraphicFramePr>
          <p:cNvPr id="17" name="Table 16">
            <a:extLst>
              <a:ext uri="{FF2B5EF4-FFF2-40B4-BE49-F238E27FC236}">
                <a16:creationId xmlns:a16="http://schemas.microsoft.com/office/drawing/2014/main" id="{26082E24-A4E8-A5FF-41A3-797E55BFC70A}"/>
              </a:ext>
            </a:extLst>
          </p:cNvPr>
          <p:cNvGraphicFramePr>
            <a:graphicFrameLocks noGrp="1"/>
          </p:cNvGraphicFramePr>
          <p:nvPr>
            <p:extLst>
              <p:ext uri="{D42A27DB-BD31-4B8C-83A1-F6EECF244321}">
                <p14:modId xmlns:p14="http://schemas.microsoft.com/office/powerpoint/2010/main" val="3537793027"/>
              </p:ext>
            </p:extLst>
          </p:nvPr>
        </p:nvGraphicFramePr>
        <p:xfrm>
          <a:off x="359229" y="2302138"/>
          <a:ext cx="4145642" cy="4247320"/>
        </p:xfrm>
        <a:graphic>
          <a:graphicData uri="http://schemas.openxmlformats.org/drawingml/2006/table">
            <a:tbl>
              <a:tblPr/>
              <a:tblGrid>
                <a:gridCol w="1460713">
                  <a:extLst>
                    <a:ext uri="{9D8B030D-6E8A-4147-A177-3AD203B41FA5}">
                      <a16:colId xmlns:a16="http://schemas.microsoft.com/office/drawing/2014/main" val="561684022"/>
                    </a:ext>
                  </a:extLst>
                </a:gridCol>
                <a:gridCol w="667754">
                  <a:extLst>
                    <a:ext uri="{9D8B030D-6E8A-4147-A177-3AD203B41FA5}">
                      <a16:colId xmlns:a16="http://schemas.microsoft.com/office/drawing/2014/main" val="4270740361"/>
                    </a:ext>
                  </a:extLst>
                </a:gridCol>
                <a:gridCol w="1377244">
                  <a:extLst>
                    <a:ext uri="{9D8B030D-6E8A-4147-A177-3AD203B41FA5}">
                      <a16:colId xmlns:a16="http://schemas.microsoft.com/office/drawing/2014/main" val="3718218198"/>
                    </a:ext>
                  </a:extLst>
                </a:gridCol>
                <a:gridCol w="639931">
                  <a:extLst>
                    <a:ext uri="{9D8B030D-6E8A-4147-A177-3AD203B41FA5}">
                      <a16:colId xmlns:a16="http://schemas.microsoft.com/office/drawing/2014/main" val="3901570002"/>
                    </a:ext>
                  </a:extLst>
                </a:gridCol>
              </a:tblGrid>
              <a:tr h="303380">
                <a:tc>
                  <a:txBody>
                    <a:bodyPr/>
                    <a:lstStyle/>
                    <a:p>
                      <a:pPr algn="ctr" fontAlgn="ctr">
                        <a:buNone/>
                      </a:pPr>
                      <a:r>
                        <a:rPr lang="en-US" sz="1000" b="0" i="0" u="none" strike="noStrike">
                          <a:solidFill>
                            <a:srgbClr val="000000"/>
                          </a:solidFill>
                          <a:effectLst/>
                          <a:latin typeface="Aptos Narrow" panose="020B0004020202020204" pitchFamily="34" charset="0"/>
                        </a:rPr>
                        <a:t>NAR402-NAR050  route</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n-US" sz="1000" b="0" i="0" u="none" strike="noStrike">
                          <a:solidFill>
                            <a:srgbClr val="000000"/>
                          </a:solidFill>
                          <a:effectLst/>
                          <a:latin typeface="Aptos Narrow" panose="020B0004020202020204" pitchFamily="34" charset="0"/>
                        </a:rPr>
                        <a:t>Core used</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n-US" sz="1000" b="0" i="0" u="none" strike="noStrike">
                          <a:solidFill>
                            <a:srgbClr val="000000"/>
                          </a:solidFill>
                          <a:effectLst/>
                          <a:latin typeface="Aptos Narrow" panose="020B0004020202020204" pitchFamily="34" charset="0"/>
                        </a:rPr>
                        <a:t>NAR050-NAR014  route</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n-US" sz="1000" b="0" i="0" u="none" strike="noStrike">
                          <a:solidFill>
                            <a:srgbClr val="000000"/>
                          </a:solidFill>
                          <a:effectLst/>
                          <a:latin typeface="Aptos Narrow" panose="020B0004020202020204" pitchFamily="34" charset="0"/>
                        </a:rPr>
                        <a:t>Core used</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453191054"/>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NAR402-NAR050</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1</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NAR050-NAR014</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875161"/>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NAR050-NAR410</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NAR050-NAR190</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4426738"/>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NAR402-NAR464</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1</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NAR190-NAR130</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8409191"/>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NAR464-NAR427</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NAR130-NAR074</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1922575"/>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NAR427-NAR346</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NAR074-NAR447</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1730484"/>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NAR427-NAR405</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NAR447-NAR153</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1701822"/>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NAR346-NAR405</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NAR153-NAR045</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12172497"/>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NAR405-NAR156</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NAR045-NAR223</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1847803"/>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NAR156-NAR426</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NAR223-NAR041</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8975226"/>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NAR426-NAR489</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NAR041-NAR198</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704410"/>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NAR489-NAR133</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NAR198-NAR014</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0089361"/>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NAR133-NAR050</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746968"/>
                  </a:ext>
                </a:extLst>
              </a:tr>
              <a:tr h="303380">
                <a:tc>
                  <a:txBody>
                    <a:bodyPr/>
                    <a:lstStyle/>
                    <a:p>
                      <a:pPr algn="ctr" fontAlgn="ctr">
                        <a:buNone/>
                      </a:pPr>
                      <a:r>
                        <a:rPr lang="en-US" sz="1000" b="0" i="0" u="none" strike="noStrike">
                          <a:solidFill>
                            <a:srgbClr val="000000"/>
                          </a:solidFill>
                          <a:effectLst/>
                          <a:latin typeface="Aptos Narrow" panose="020B0004020202020204" pitchFamily="34" charset="0"/>
                        </a:rPr>
                        <a:t>NAR410-NAR464</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US" sz="1000" b="0" i="0" u="none" strike="noStrike">
                          <a:solidFill>
                            <a:srgbClr val="000000"/>
                          </a:solidFill>
                          <a:effectLst/>
                          <a:latin typeface="Aptos Narrow" panose="020B0004020202020204" pitchFamily="34" charset="0"/>
                        </a:rPr>
                        <a:t>2</a:t>
                      </a: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endParaRPr/>
                    </a:p>
                  </a:txBody>
                  <a:tcPr marL="6350" marR="6350" marT="635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7628398"/>
                  </a:ext>
                </a:extLst>
              </a:tr>
            </a:tbl>
          </a:graphicData>
        </a:graphic>
      </p:graphicFrame>
      <p:sp>
        <p:nvSpPr>
          <p:cNvPr id="18" name="TextBox 17">
            <a:extLst>
              <a:ext uri="{FF2B5EF4-FFF2-40B4-BE49-F238E27FC236}">
                <a16:creationId xmlns:a16="http://schemas.microsoft.com/office/drawing/2014/main" id="{F41AFB8A-E5DD-8381-537B-DE1007C80DA6}"/>
              </a:ext>
            </a:extLst>
          </p:cNvPr>
          <p:cNvSpPr txBox="1"/>
          <p:nvPr/>
        </p:nvSpPr>
        <p:spPr>
          <a:xfrm>
            <a:off x="4673598" y="2302138"/>
            <a:ext cx="7349672" cy="4524315"/>
          </a:xfrm>
          <a:prstGeom prst="rect">
            <a:avLst/>
          </a:prstGeom>
          <a:noFill/>
        </p:spPr>
        <p:txBody>
          <a:bodyPr wrap="square" rtlCol="0">
            <a:spAutoFit/>
          </a:bodyPr>
          <a:lstStyle/>
          <a:p>
            <a:pPr marL="285750" indent="-285750">
              <a:buFont typeface="Arial" panose="020B0604020202020204" pitchFamily="34" charset="0"/>
              <a:buChar char="•"/>
            </a:pPr>
            <a:r>
              <a:rPr lang="en-US" altLang="en-US" dirty="0">
                <a:cs typeface="Arial" pitchFamily="34" charset="0"/>
              </a:rPr>
              <a:t>Water-logged area, canal, market area, bridge, paved road and no space at roadside which make difficulty for UG work at multiple location, so we must make ADSS in such section</a:t>
            </a:r>
          </a:p>
          <a:p>
            <a:pPr marL="285750" indent="-285750">
              <a:buFont typeface="Arial" panose="020B0604020202020204" pitchFamily="34" charset="0"/>
              <a:buChar char="•"/>
            </a:pPr>
            <a:r>
              <a:rPr lang="en-US" altLang="en-US" dirty="0">
                <a:cs typeface="Arial" pitchFamily="34" charset="0"/>
              </a:rPr>
              <a:t>For NAR402-NAR050:</a:t>
            </a:r>
            <a:r>
              <a:rPr lang="en-US" dirty="0"/>
              <a:t> Out of 24 core, 4 drop site, 1 core NAR050-NAR402, 2 coreNAR410-NAR05, 2 NAR410-NAR464, 15 spares cores are available where we will make core through at least 12 cores.</a:t>
            </a:r>
          </a:p>
          <a:p>
            <a:pPr marL="285750" indent="-285750">
              <a:buFont typeface="Arial" panose="020B0604020202020204" pitchFamily="34" charset="0"/>
              <a:buChar char="•"/>
            </a:pPr>
            <a:r>
              <a:rPr lang="en-US" altLang="en-US" dirty="0">
                <a:cs typeface="Arial" pitchFamily="34" charset="0"/>
              </a:rPr>
              <a:t>For NAR050-NAR014:</a:t>
            </a:r>
            <a:r>
              <a:rPr lang="en-US" dirty="0"/>
              <a:t> Out of 24 core, 2 drop site(2 spare core for drop site), 2 core NAR050-NAR014, 18 spares cores are available where we will make core through at least 15 cores.</a:t>
            </a:r>
          </a:p>
          <a:p>
            <a:pPr marL="285750" lvl="0" indent="-285750" defTabSz="685800">
              <a:spcBef>
                <a:spcPct val="0"/>
              </a:spcBef>
              <a:buFont typeface="Arial" panose="020B0604020202020204" pitchFamily="34" charset="0"/>
              <a:buChar char="•"/>
              <a:defRPr/>
            </a:pPr>
            <a:r>
              <a:rPr lang="en-US" altLang="en-US" dirty="0">
                <a:cs typeface="Arial" pitchFamily="34" charset="0"/>
              </a:rPr>
              <a:t>The survey is based on accessible and known joint closure location. We will try to minimize the rework by locating the joint closures.</a:t>
            </a:r>
          </a:p>
          <a:p>
            <a:pPr marL="285750" lvl="0" indent="-285750" defTabSz="685800">
              <a:spcBef>
                <a:spcPct val="0"/>
              </a:spcBef>
              <a:buFont typeface="Arial" panose="020B0604020202020204" pitchFamily="34" charset="0"/>
              <a:buChar char="•"/>
              <a:defRPr/>
            </a:pPr>
            <a:r>
              <a:rPr lang="en-US" altLang="en-US" dirty="0">
                <a:cs typeface="Arial" pitchFamily="34" charset="0"/>
              </a:rPr>
              <a:t>If any changes required in rework section wise, we will inform you prior. Total rework length is </a:t>
            </a:r>
            <a:r>
              <a:rPr lang="en-US" altLang="en-US" b="1" dirty="0">
                <a:cs typeface="Arial" pitchFamily="34" charset="0"/>
              </a:rPr>
              <a:t>9.9km UG &amp; 5.4 Km ADSS and after margin length 12km UG and 6km ADSS</a:t>
            </a:r>
          </a:p>
          <a:p>
            <a:endParaRPr lang="en-US" altLang="en-US" dirty="0">
              <a:latin typeface="Arial" panose="020B0604020202020204" pitchFamily="34" charset="0"/>
              <a:cs typeface="Arial" pitchFamily="34" charset="0"/>
            </a:endParaRPr>
          </a:p>
          <a:p>
            <a:endParaRPr lang="en-US" dirty="0"/>
          </a:p>
        </p:txBody>
      </p:sp>
    </p:spTree>
    <p:extLst>
      <p:ext uri="{BB962C8B-B14F-4D97-AF65-F5344CB8AC3E}">
        <p14:creationId xmlns:p14="http://schemas.microsoft.com/office/powerpoint/2010/main" val="1738351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1535974-DA6F-1E7C-C5F3-DC078904B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608ED-DBC2-A61C-EBB8-E35BFE224FEF}"/>
              </a:ext>
            </a:extLst>
          </p:cNvPr>
          <p:cNvSpPr txBox="1">
            <a:spLocks/>
          </p:cNvSpPr>
          <p:nvPr/>
        </p:nvSpPr>
        <p:spPr>
          <a:xfrm>
            <a:off x="113253" y="693174"/>
            <a:ext cx="10486803" cy="324465"/>
          </a:xfrm>
          <a:prstGeom prst="rect">
            <a:avLst/>
          </a:prstGeom>
          <a:solidFill>
            <a:schemeClr val="accent1"/>
          </a:solidFill>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1.) 3KM</a:t>
            </a:r>
          </a:p>
        </p:txBody>
      </p:sp>
      <p:pic>
        <p:nvPicPr>
          <p:cNvPr id="4" name="Picture 3">
            <a:extLst>
              <a:ext uri="{FF2B5EF4-FFF2-40B4-BE49-F238E27FC236}">
                <a16:creationId xmlns:a16="http://schemas.microsoft.com/office/drawing/2014/main" id="{64BE1572-0A4A-394A-C1DC-FD377CC45529}"/>
              </a:ext>
            </a:extLst>
          </p:cNvPr>
          <p:cNvPicPr>
            <a:picLocks noChangeAspect="1"/>
          </p:cNvPicPr>
          <p:nvPr/>
        </p:nvPicPr>
        <p:blipFill>
          <a:blip r:embed="rId3"/>
          <a:stretch>
            <a:fillRect/>
          </a:stretch>
        </p:blipFill>
        <p:spPr>
          <a:xfrm rot="16200000">
            <a:off x="1963443" y="223131"/>
            <a:ext cx="2056227" cy="5756603"/>
          </a:xfrm>
          <a:prstGeom prst="rect">
            <a:avLst/>
          </a:prstGeom>
        </p:spPr>
      </p:pic>
      <p:pic>
        <p:nvPicPr>
          <p:cNvPr id="7" name="Picture 6">
            <a:extLst>
              <a:ext uri="{FF2B5EF4-FFF2-40B4-BE49-F238E27FC236}">
                <a16:creationId xmlns:a16="http://schemas.microsoft.com/office/drawing/2014/main" id="{1BCE9A9A-329D-DEF0-3B7D-5B26EA8E5AC1}"/>
              </a:ext>
            </a:extLst>
          </p:cNvPr>
          <p:cNvPicPr>
            <a:picLocks noChangeAspect="1"/>
          </p:cNvPicPr>
          <p:nvPr/>
        </p:nvPicPr>
        <p:blipFill>
          <a:blip r:embed="rId4"/>
          <a:stretch>
            <a:fillRect/>
          </a:stretch>
        </p:blipFill>
        <p:spPr>
          <a:xfrm rot="16200000">
            <a:off x="1840031" y="2579751"/>
            <a:ext cx="2315432" cy="5768988"/>
          </a:xfrm>
          <a:prstGeom prst="rect">
            <a:avLst/>
          </a:prstGeom>
        </p:spPr>
      </p:pic>
      <p:pic>
        <p:nvPicPr>
          <p:cNvPr id="11" name="Picture 10">
            <a:extLst>
              <a:ext uri="{FF2B5EF4-FFF2-40B4-BE49-F238E27FC236}">
                <a16:creationId xmlns:a16="http://schemas.microsoft.com/office/drawing/2014/main" id="{09153E89-A4CC-9B13-864D-11BF3FC64716}"/>
              </a:ext>
            </a:extLst>
          </p:cNvPr>
          <p:cNvPicPr>
            <a:picLocks noChangeAspect="1"/>
          </p:cNvPicPr>
          <p:nvPr/>
        </p:nvPicPr>
        <p:blipFill>
          <a:blip r:embed="rId5"/>
          <a:stretch>
            <a:fillRect/>
          </a:stretch>
        </p:blipFill>
        <p:spPr>
          <a:xfrm rot="16200000">
            <a:off x="7809954" y="354128"/>
            <a:ext cx="2056229" cy="5484134"/>
          </a:xfrm>
          <a:prstGeom prst="rect">
            <a:avLst/>
          </a:prstGeom>
        </p:spPr>
      </p:pic>
      <p:pic>
        <p:nvPicPr>
          <p:cNvPr id="13" name="Picture 12">
            <a:extLst>
              <a:ext uri="{FF2B5EF4-FFF2-40B4-BE49-F238E27FC236}">
                <a16:creationId xmlns:a16="http://schemas.microsoft.com/office/drawing/2014/main" id="{2057D3BE-A83D-91A1-1983-C969B2A8F894}"/>
              </a:ext>
            </a:extLst>
          </p:cNvPr>
          <p:cNvPicPr>
            <a:picLocks noChangeAspect="1"/>
          </p:cNvPicPr>
          <p:nvPr/>
        </p:nvPicPr>
        <p:blipFill>
          <a:blip r:embed="rId6"/>
          <a:stretch>
            <a:fillRect/>
          </a:stretch>
        </p:blipFill>
        <p:spPr>
          <a:xfrm rot="16200000">
            <a:off x="7674452" y="2716278"/>
            <a:ext cx="2315432" cy="5495934"/>
          </a:xfrm>
          <a:prstGeom prst="rect">
            <a:avLst/>
          </a:prstGeom>
        </p:spPr>
      </p:pic>
      <p:sp>
        <p:nvSpPr>
          <p:cNvPr id="15" name="Title 1">
            <a:extLst>
              <a:ext uri="{FF2B5EF4-FFF2-40B4-BE49-F238E27FC236}">
                <a16:creationId xmlns:a16="http://schemas.microsoft.com/office/drawing/2014/main" id="{781F3545-FCEC-31F4-776B-51AA226C0B33}"/>
              </a:ext>
            </a:extLst>
          </p:cNvPr>
          <p:cNvSpPr txBox="1">
            <a:spLocks/>
          </p:cNvSpPr>
          <p:nvPr/>
        </p:nvSpPr>
        <p:spPr>
          <a:xfrm>
            <a:off x="113253" y="123043"/>
            <a:ext cx="10486803" cy="46423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Survey from NAR014 end</a:t>
            </a:r>
          </a:p>
        </p:txBody>
      </p:sp>
      <p:sp>
        <p:nvSpPr>
          <p:cNvPr id="17" name="Title 1">
            <a:extLst>
              <a:ext uri="{FF2B5EF4-FFF2-40B4-BE49-F238E27FC236}">
                <a16:creationId xmlns:a16="http://schemas.microsoft.com/office/drawing/2014/main" id="{5F04B524-6E70-1DFE-28FF-EA2108B35B02}"/>
              </a:ext>
            </a:extLst>
          </p:cNvPr>
          <p:cNvSpPr txBox="1">
            <a:spLocks/>
          </p:cNvSpPr>
          <p:nvPr/>
        </p:nvSpPr>
        <p:spPr>
          <a:xfrm>
            <a:off x="113253" y="1124185"/>
            <a:ext cx="10444895" cy="83735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1800" kern="1200">
                <a:solidFill>
                  <a:schemeClr val="bg1"/>
                </a:solidFill>
                <a:latin typeface="Myriad Pro" pitchFamily="34" charset="0"/>
                <a:ea typeface="+mj-ea"/>
                <a:cs typeface="+mj-cs"/>
              </a:defRPr>
            </a:lvl1pPr>
          </a:lstStyle>
          <a:p>
            <a:pPr marL="342900" lvl="0" indent="-342900">
              <a:buFont typeface="Wingdings" panose="05000000000000000000" pitchFamily="2" charset="2"/>
              <a:buChar char="Ø"/>
              <a:defRPr/>
            </a:pPr>
            <a:r>
              <a:rPr lang="en-US" altLang="en-US" sz="1600" dirty="0">
                <a:solidFill>
                  <a:schemeClr val="tx1"/>
                </a:solidFill>
                <a:latin typeface="Arial" pitchFamily="34" charset="0"/>
                <a:cs typeface="Arial" pitchFamily="34" charset="0"/>
              </a:rPr>
              <a:t>Enclosure inside the road, house and not accessible.</a:t>
            </a:r>
          </a:p>
          <a:p>
            <a:pPr marL="342900" lvl="0" indent="-342900">
              <a:buFont typeface="Wingdings" panose="05000000000000000000" pitchFamily="2" charset="2"/>
              <a:buChar char="Ø"/>
              <a:defRPr/>
            </a:pPr>
            <a:r>
              <a:rPr lang="en-US" altLang="en-US" sz="1600" dirty="0">
                <a:solidFill>
                  <a:schemeClr val="tx1"/>
                </a:solidFill>
                <a:latin typeface="Arial" pitchFamily="34" charset="0"/>
                <a:cs typeface="Arial" pitchFamily="34" charset="0"/>
              </a:rPr>
              <a:t>Need to bypass approx. 2500m cable.</a:t>
            </a:r>
          </a:p>
          <a:p>
            <a:pPr marL="342900" lvl="0" indent="-342900">
              <a:buFont typeface="Wingdings" panose="05000000000000000000" pitchFamily="2" charset="2"/>
              <a:buChar char="Ø"/>
              <a:defRPr/>
            </a:pPr>
            <a:r>
              <a:rPr lang="en-US" altLang="en-US" sz="1600" dirty="0">
                <a:solidFill>
                  <a:schemeClr val="tx1"/>
                </a:solidFill>
                <a:latin typeface="Arial" pitchFamily="34" charset="0"/>
                <a:cs typeface="Arial" pitchFamily="34" charset="0"/>
              </a:rPr>
              <a:t>UG feasible but ROW required.</a:t>
            </a:r>
          </a:p>
        </p:txBody>
      </p:sp>
    </p:spTree>
    <p:extLst>
      <p:ext uri="{BB962C8B-B14F-4D97-AF65-F5344CB8AC3E}">
        <p14:creationId xmlns:p14="http://schemas.microsoft.com/office/powerpoint/2010/main" val="348961274"/>
      </p:ext>
    </p:extLst>
  </p:cSld>
  <p:clrMapOvr>
    <a:masterClrMapping/>
  </p:clrMapOvr>
  <p:transition advClick="0">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03FCF21-30E7-5710-3523-2FA8F4E673D3}"/>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9E924B74-01DC-DAAE-5A8D-49932BC09C08}"/>
              </a:ext>
            </a:extLst>
          </p:cNvPr>
          <p:cNvSpPr txBox="1">
            <a:spLocks/>
          </p:cNvSpPr>
          <p:nvPr/>
        </p:nvSpPr>
        <p:spPr>
          <a:xfrm>
            <a:off x="113253" y="123043"/>
            <a:ext cx="10486803" cy="46423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Survey from NAR014 end</a:t>
            </a:r>
          </a:p>
        </p:txBody>
      </p:sp>
      <p:pic>
        <p:nvPicPr>
          <p:cNvPr id="5" name="Picture 4">
            <a:extLst>
              <a:ext uri="{FF2B5EF4-FFF2-40B4-BE49-F238E27FC236}">
                <a16:creationId xmlns:a16="http://schemas.microsoft.com/office/drawing/2014/main" id="{1A80A5E2-A0AA-4A3C-F01A-6E115A134D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893600" y="343191"/>
            <a:ext cx="2529345" cy="4090037"/>
          </a:xfrm>
          <a:prstGeom prst="rect">
            <a:avLst/>
          </a:prstGeom>
        </p:spPr>
      </p:pic>
      <p:pic>
        <p:nvPicPr>
          <p:cNvPr id="8" name="Picture 7">
            <a:extLst>
              <a:ext uri="{FF2B5EF4-FFF2-40B4-BE49-F238E27FC236}">
                <a16:creationId xmlns:a16="http://schemas.microsoft.com/office/drawing/2014/main" id="{56F82050-3188-D8B0-8D9B-5F0DEEBAE5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8761471" y="473680"/>
            <a:ext cx="2529347" cy="3829060"/>
          </a:xfrm>
          <a:prstGeom prst="rect">
            <a:avLst/>
          </a:prstGeom>
        </p:spPr>
      </p:pic>
      <p:pic>
        <p:nvPicPr>
          <p:cNvPr id="10" name="Picture 9">
            <a:extLst>
              <a:ext uri="{FF2B5EF4-FFF2-40B4-BE49-F238E27FC236}">
                <a16:creationId xmlns:a16="http://schemas.microsoft.com/office/drawing/2014/main" id="{02D52433-29F7-255D-03EF-087F2F0BA1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779297" y="3094796"/>
            <a:ext cx="2757950" cy="4090036"/>
          </a:xfrm>
          <a:prstGeom prst="rect">
            <a:avLst/>
          </a:prstGeom>
        </p:spPr>
      </p:pic>
      <p:pic>
        <p:nvPicPr>
          <p:cNvPr id="14" name="Picture 13">
            <a:extLst>
              <a:ext uri="{FF2B5EF4-FFF2-40B4-BE49-F238E27FC236}">
                <a16:creationId xmlns:a16="http://schemas.microsoft.com/office/drawing/2014/main" id="{FE51BA42-4651-CE23-0D1A-25ADAAC12C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8647170" y="3225282"/>
            <a:ext cx="2757951" cy="3829059"/>
          </a:xfrm>
          <a:prstGeom prst="rect">
            <a:avLst/>
          </a:prstGeom>
        </p:spPr>
      </p:pic>
      <p:pic>
        <p:nvPicPr>
          <p:cNvPr id="18" name="Picture 17">
            <a:extLst>
              <a:ext uri="{FF2B5EF4-FFF2-40B4-BE49-F238E27FC236}">
                <a16:creationId xmlns:a16="http://schemas.microsoft.com/office/drawing/2014/main" id="{2C6064AB-E0D9-0B14-06E0-55CBF56361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4912447" y="576611"/>
            <a:ext cx="2529346" cy="3623190"/>
          </a:xfrm>
          <a:prstGeom prst="rect">
            <a:avLst/>
          </a:prstGeom>
        </p:spPr>
      </p:pic>
      <p:pic>
        <p:nvPicPr>
          <p:cNvPr id="20" name="Picture 19">
            <a:extLst>
              <a:ext uri="{FF2B5EF4-FFF2-40B4-BE49-F238E27FC236}">
                <a16:creationId xmlns:a16="http://schemas.microsoft.com/office/drawing/2014/main" id="{7893B6BE-3E48-0EB5-CB31-0344B34EA4A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16200000">
            <a:off x="4798142" y="3328211"/>
            <a:ext cx="2757951" cy="3623191"/>
          </a:xfrm>
          <a:prstGeom prst="rect">
            <a:avLst/>
          </a:prstGeom>
        </p:spPr>
      </p:pic>
      <p:sp>
        <p:nvSpPr>
          <p:cNvPr id="22" name="Title 1">
            <a:extLst>
              <a:ext uri="{FF2B5EF4-FFF2-40B4-BE49-F238E27FC236}">
                <a16:creationId xmlns:a16="http://schemas.microsoft.com/office/drawing/2014/main" id="{54AC1A3A-E9CF-36BB-91DE-8130C38EF5BA}"/>
              </a:ext>
            </a:extLst>
          </p:cNvPr>
          <p:cNvSpPr txBox="1">
            <a:spLocks/>
          </p:cNvSpPr>
          <p:nvPr/>
        </p:nvSpPr>
        <p:spPr>
          <a:xfrm>
            <a:off x="113253" y="693174"/>
            <a:ext cx="10486803" cy="324465"/>
          </a:xfrm>
          <a:prstGeom prst="rect">
            <a:avLst/>
          </a:prstGeom>
          <a:solidFill>
            <a:schemeClr val="accent1"/>
          </a:solidFill>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1.) 3KM</a:t>
            </a:r>
          </a:p>
        </p:txBody>
      </p:sp>
    </p:spTree>
    <p:extLst>
      <p:ext uri="{BB962C8B-B14F-4D97-AF65-F5344CB8AC3E}">
        <p14:creationId xmlns:p14="http://schemas.microsoft.com/office/powerpoint/2010/main" val="3882906104"/>
      </p:ext>
    </p:extLst>
  </p:cSld>
  <p:clrMapOvr>
    <a:masterClrMapping/>
  </p:clrMapOvr>
  <p:transition advClick="0">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942ED55-3A14-5F47-E39B-FACDDD4D591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6294D26-D615-D173-5A3E-4E76283BAA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513481" y="906314"/>
            <a:ext cx="5352192" cy="5478550"/>
          </a:xfrm>
          <a:prstGeom prst="rect">
            <a:avLst/>
          </a:prstGeom>
        </p:spPr>
      </p:pic>
      <p:pic>
        <p:nvPicPr>
          <p:cNvPr id="6" name="Picture 5">
            <a:extLst>
              <a:ext uri="{FF2B5EF4-FFF2-40B4-BE49-F238E27FC236}">
                <a16:creationId xmlns:a16="http://schemas.microsoft.com/office/drawing/2014/main" id="{3C7B3104-9338-F355-287D-997D3152FF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6306665" y="1034133"/>
            <a:ext cx="5352191" cy="5222913"/>
          </a:xfrm>
          <a:prstGeom prst="rect">
            <a:avLst/>
          </a:prstGeom>
        </p:spPr>
      </p:pic>
      <p:sp>
        <p:nvSpPr>
          <p:cNvPr id="5" name="Title 1">
            <a:extLst>
              <a:ext uri="{FF2B5EF4-FFF2-40B4-BE49-F238E27FC236}">
                <a16:creationId xmlns:a16="http://schemas.microsoft.com/office/drawing/2014/main" id="{7D4CA4BF-2249-6DE3-B767-AD81A97514CE}"/>
              </a:ext>
            </a:extLst>
          </p:cNvPr>
          <p:cNvSpPr txBox="1">
            <a:spLocks/>
          </p:cNvSpPr>
          <p:nvPr/>
        </p:nvSpPr>
        <p:spPr>
          <a:xfrm>
            <a:off x="113253" y="123043"/>
            <a:ext cx="10486803" cy="46423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Survey from NAR014 end</a:t>
            </a:r>
          </a:p>
        </p:txBody>
      </p:sp>
      <p:sp>
        <p:nvSpPr>
          <p:cNvPr id="8" name="Title 1">
            <a:extLst>
              <a:ext uri="{FF2B5EF4-FFF2-40B4-BE49-F238E27FC236}">
                <a16:creationId xmlns:a16="http://schemas.microsoft.com/office/drawing/2014/main" id="{C85D43B2-6A20-51CE-F69B-EFC79DB7A346}"/>
              </a:ext>
            </a:extLst>
          </p:cNvPr>
          <p:cNvSpPr txBox="1">
            <a:spLocks/>
          </p:cNvSpPr>
          <p:nvPr/>
        </p:nvSpPr>
        <p:spPr>
          <a:xfrm>
            <a:off x="113253" y="693174"/>
            <a:ext cx="10486803" cy="324465"/>
          </a:xfrm>
          <a:prstGeom prst="rect">
            <a:avLst/>
          </a:prstGeom>
          <a:solidFill>
            <a:schemeClr val="accent1"/>
          </a:solidFill>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1.) 3KM</a:t>
            </a:r>
          </a:p>
        </p:txBody>
      </p:sp>
    </p:spTree>
    <p:extLst>
      <p:ext uri="{BB962C8B-B14F-4D97-AF65-F5344CB8AC3E}">
        <p14:creationId xmlns:p14="http://schemas.microsoft.com/office/powerpoint/2010/main" val="1518690959"/>
      </p:ext>
    </p:extLst>
  </p:cSld>
  <p:clrMapOvr>
    <a:masterClrMapping/>
  </p:clrMapOvr>
  <p:transition advClick="0">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B5F606A-0ED6-AC04-2FF1-FC23A26799E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DFBE95C-3A84-B13E-7F2E-5432AA907055}"/>
              </a:ext>
            </a:extLst>
          </p:cNvPr>
          <p:cNvSpPr txBox="1">
            <a:spLocks/>
          </p:cNvSpPr>
          <p:nvPr/>
        </p:nvSpPr>
        <p:spPr>
          <a:xfrm>
            <a:off x="257396" y="216449"/>
            <a:ext cx="10486803" cy="46423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1.) 3KM</a:t>
            </a:r>
          </a:p>
        </p:txBody>
      </p:sp>
      <p:pic>
        <p:nvPicPr>
          <p:cNvPr id="5" name="Picture 4">
            <a:extLst>
              <a:ext uri="{FF2B5EF4-FFF2-40B4-BE49-F238E27FC236}">
                <a16:creationId xmlns:a16="http://schemas.microsoft.com/office/drawing/2014/main" id="{C1409492-9ACF-90FA-D2CB-BC2E03F4E0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687420" y="333455"/>
            <a:ext cx="2923613" cy="3783663"/>
          </a:xfrm>
          <a:prstGeom prst="rect">
            <a:avLst/>
          </a:prstGeom>
        </p:spPr>
      </p:pic>
      <p:pic>
        <p:nvPicPr>
          <p:cNvPr id="8" name="Picture 7">
            <a:extLst>
              <a:ext uri="{FF2B5EF4-FFF2-40B4-BE49-F238E27FC236}">
                <a16:creationId xmlns:a16="http://schemas.microsoft.com/office/drawing/2014/main" id="{1A35DDC0-D567-ED29-A6D0-F1231CC4E6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4563561" y="345520"/>
            <a:ext cx="2923612" cy="3759536"/>
          </a:xfrm>
          <a:prstGeom prst="rect">
            <a:avLst/>
          </a:prstGeom>
        </p:spPr>
      </p:pic>
      <p:pic>
        <p:nvPicPr>
          <p:cNvPr id="10" name="Picture 9">
            <a:extLst>
              <a:ext uri="{FF2B5EF4-FFF2-40B4-BE49-F238E27FC236}">
                <a16:creationId xmlns:a16="http://schemas.microsoft.com/office/drawing/2014/main" id="{E9BFE6D1-95F6-9B3B-2C21-5BD3FDC8A4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6402" y="763483"/>
            <a:ext cx="3888203" cy="2923614"/>
          </a:xfrm>
          <a:prstGeom prst="rect">
            <a:avLst/>
          </a:prstGeom>
        </p:spPr>
      </p:pic>
      <p:pic>
        <p:nvPicPr>
          <p:cNvPr id="13" name="Picture 12">
            <a:extLst>
              <a:ext uri="{FF2B5EF4-FFF2-40B4-BE49-F238E27FC236}">
                <a16:creationId xmlns:a16="http://schemas.microsoft.com/office/drawing/2014/main" id="{51A3B3A1-2BBD-84DF-C448-8B70C3E03C3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707070" y="3307562"/>
            <a:ext cx="2884312" cy="3783665"/>
          </a:xfrm>
          <a:prstGeom prst="rect">
            <a:avLst/>
          </a:prstGeom>
        </p:spPr>
      </p:pic>
      <p:pic>
        <p:nvPicPr>
          <p:cNvPr id="15" name="Picture 14">
            <a:extLst>
              <a:ext uri="{FF2B5EF4-FFF2-40B4-BE49-F238E27FC236}">
                <a16:creationId xmlns:a16="http://schemas.microsoft.com/office/drawing/2014/main" id="{EB35CAFD-2A84-50C5-244B-E78E54E7F49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4601574" y="3357637"/>
            <a:ext cx="2884313" cy="3722811"/>
          </a:xfrm>
          <a:prstGeom prst="rect">
            <a:avLst/>
          </a:prstGeom>
        </p:spPr>
      </p:pic>
      <p:pic>
        <p:nvPicPr>
          <p:cNvPr id="17" name="Picture 16">
            <a:extLst>
              <a:ext uri="{FF2B5EF4-FFF2-40B4-BE49-F238E27FC236}">
                <a16:creationId xmlns:a16="http://schemas.microsoft.com/office/drawing/2014/main" id="{98757610-CAF8-6207-D31F-7F53D1B28A7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16200000">
            <a:off x="8548345" y="3255294"/>
            <a:ext cx="2884313" cy="3888202"/>
          </a:xfrm>
          <a:prstGeom prst="rect">
            <a:avLst/>
          </a:prstGeom>
        </p:spPr>
      </p:pic>
    </p:spTree>
    <p:extLst>
      <p:ext uri="{BB962C8B-B14F-4D97-AF65-F5344CB8AC3E}">
        <p14:creationId xmlns:p14="http://schemas.microsoft.com/office/powerpoint/2010/main" val="3866092334"/>
      </p:ext>
    </p:extLst>
  </p:cSld>
  <p:clrMapOvr>
    <a:masterClrMapping/>
  </p:clrMapOvr>
  <p:transition advClick="0">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954A3D1-3D6E-0B80-58DA-9AF16768624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9F59CB1-52BE-D3F3-2803-B440CE29E73D}"/>
              </a:ext>
            </a:extLst>
          </p:cNvPr>
          <p:cNvSpPr txBox="1">
            <a:spLocks/>
          </p:cNvSpPr>
          <p:nvPr/>
        </p:nvSpPr>
        <p:spPr>
          <a:xfrm>
            <a:off x="257396" y="216449"/>
            <a:ext cx="10486803" cy="46423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1.) 3KM</a:t>
            </a:r>
          </a:p>
        </p:txBody>
      </p:sp>
      <p:pic>
        <p:nvPicPr>
          <p:cNvPr id="4" name="Picture 3">
            <a:extLst>
              <a:ext uri="{FF2B5EF4-FFF2-40B4-BE49-F238E27FC236}">
                <a16:creationId xmlns:a16="http://schemas.microsoft.com/office/drawing/2014/main" id="{3B8DBEC2-4D5F-4776-9EA0-F934C3E212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310708" y="738412"/>
            <a:ext cx="2880625" cy="2987248"/>
          </a:xfrm>
          <a:prstGeom prst="rect">
            <a:avLst/>
          </a:prstGeom>
        </p:spPr>
      </p:pic>
      <p:pic>
        <p:nvPicPr>
          <p:cNvPr id="7" name="Picture 6">
            <a:extLst>
              <a:ext uri="{FF2B5EF4-FFF2-40B4-BE49-F238E27FC236}">
                <a16:creationId xmlns:a16="http://schemas.microsoft.com/office/drawing/2014/main" id="{DF953A2A-37FF-BA7E-BEBE-D31F083A26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3476167" y="738411"/>
            <a:ext cx="2880625" cy="2987250"/>
          </a:xfrm>
          <a:prstGeom prst="rect">
            <a:avLst/>
          </a:prstGeom>
        </p:spPr>
      </p:pic>
      <p:pic>
        <p:nvPicPr>
          <p:cNvPr id="11" name="Picture 10">
            <a:extLst>
              <a:ext uri="{FF2B5EF4-FFF2-40B4-BE49-F238E27FC236}">
                <a16:creationId xmlns:a16="http://schemas.microsoft.com/office/drawing/2014/main" id="{B9CA878D-3BF4-F904-A860-5E831AB654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6529083" y="850954"/>
            <a:ext cx="2880626" cy="2762162"/>
          </a:xfrm>
          <a:prstGeom prst="rect">
            <a:avLst/>
          </a:prstGeom>
        </p:spPr>
      </p:pic>
      <p:pic>
        <p:nvPicPr>
          <p:cNvPr id="14" name="Picture 13">
            <a:extLst>
              <a:ext uri="{FF2B5EF4-FFF2-40B4-BE49-F238E27FC236}">
                <a16:creationId xmlns:a16="http://schemas.microsoft.com/office/drawing/2014/main" id="{A4C03C69-111C-BF67-75DD-C88EE9396F8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9324165" y="996242"/>
            <a:ext cx="2880625" cy="2471581"/>
          </a:xfrm>
          <a:prstGeom prst="rect">
            <a:avLst/>
          </a:prstGeom>
        </p:spPr>
      </p:pic>
      <p:pic>
        <p:nvPicPr>
          <p:cNvPr id="18" name="Picture 17">
            <a:extLst>
              <a:ext uri="{FF2B5EF4-FFF2-40B4-BE49-F238E27FC236}">
                <a16:creationId xmlns:a16="http://schemas.microsoft.com/office/drawing/2014/main" id="{4E67EC90-EFC6-3EFF-0439-73223ED96F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417634" y="3623150"/>
            <a:ext cx="2666771" cy="2987248"/>
          </a:xfrm>
          <a:prstGeom prst="rect">
            <a:avLst/>
          </a:prstGeom>
        </p:spPr>
      </p:pic>
      <p:pic>
        <p:nvPicPr>
          <p:cNvPr id="20" name="Picture 19">
            <a:extLst>
              <a:ext uri="{FF2B5EF4-FFF2-40B4-BE49-F238E27FC236}">
                <a16:creationId xmlns:a16="http://schemas.microsoft.com/office/drawing/2014/main" id="{B21F88FF-18DE-B26E-AEE7-54F0B3A4DDB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16200000">
            <a:off x="3583094" y="3623149"/>
            <a:ext cx="2666771" cy="2987249"/>
          </a:xfrm>
          <a:prstGeom prst="rect">
            <a:avLst/>
          </a:prstGeom>
        </p:spPr>
      </p:pic>
      <p:pic>
        <p:nvPicPr>
          <p:cNvPr id="22" name="Picture 21">
            <a:extLst>
              <a:ext uri="{FF2B5EF4-FFF2-40B4-BE49-F238E27FC236}">
                <a16:creationId xmlns:a16="http://schemas.microsoft.com/office/drawing/2014/main" id="{B3C75F69-6815-8A8C-769B-F7A25D42E8A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6200000">
            <a:off x="6636010" y="3735693"/>
            <a:ext cx="2666773" cy="2762161"/>
          </a:xfrm>
          <a:prstGeom prst="rect">
            <a:avLst/>
          </a:prstGeom>
        </p:spPr>
      </p:pic>
      <p:pic>
        <p:nvPicPr>
          <p:cNvPr id="24" name="Picture 23">
            <a:extLst>
              <a:ext uri="{FF2B5EF4-FFF2-40B4-BE49-F238E27FC236}">
                <a16:creationId xmlns:a16="http://schemas.microsoft.com/office/drawing/2014/main" id="{A3F1D0A1-8682-2044-2D78-E8D6F45D0E5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6200000">
            <a:off x="9431092" y="3880979"/>
            <a:ext cx="2666772" cy="2471580"/>
          </a:xfrm>
          <a:prstGeom prst="rect">
            <a:avLst/>
          </a:prstGeom>
        </p:spPr>
      </p:pic>
    </p:spTree>
    <p:extLst>
      <p:ext uri="{BB962C8B-B14F-4D97-AF65-F5344CB8AC3E}">
        <p14:creationId xmlns:p14="http://schemas.microsoft.com/office/powerpoint/2010/main" val="3820506140"/>
      </p:ext>
    </p:extLst>
  </p:cSld>
  <p:clrMapOvr>
    <a:masterClrMapping/>
  </p:clrMapOvr>
  <p:transition advClick="0">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C91CA-B309-DBB0-D3DB-7F1F0DC61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72C38-B090-280C-2509-E22DC2D3A9C2}"/>
              </a:ext>
            </a:extLst>
          </p:cNvPr>
          <p:cNvSpPr>
            <a:spLocks noGrp="1"/>
          </p:cNvSpPr>
          <p:nvPr>
            <p:ph type="ctrTitle"/>
          </p:nvPr>
        </p:nvSpPr>
        <p:spPr>
          <a:xfrm>
            <a:off x="271974" y="215241"/>
            <a:ext cx="11741122" cy="464234"/>
          </a:xfrm>
          <a:solidFill>
            <a:schemeClr val="accent1"/>
          </a:solidFill>
        </p:spPr>
        <p:txBody>
          <a:bodyPr>
            <a:normAutofit fontScale="90000"/>
          </a:bodyPr>
          <a:lstStyle/>
          <a:p>
            <a:r>
              <a:rPr lang="en-US" sz="2800" dirty="0"/>
              <a:t>1.) 3KM</a:t>
            </a:r>
          </a:p>
        </p:txBody>
      </p:sp>
      <p:pic>
        <p:nvPicPr>
          <p:cNvPr id="5" name="Picture 4">
            <a:extLst>
              <a:ext uri="{FF2B5EF4-FFF2-40B4-BE49-F238E27FC236}">
                <a16:creationId xmlns:a16="http://schemas.microsoft.com/office/drawing/2014/main" id="{BC97BD9A-84D7-71FB-6F77-8179AE77DC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38143" y="1640561"/>
            <a:ext cx="5293373" cy="3873138"/>
          </a:xfrm>
          <a:prstGeom prst="rect">
            <a:avLst/>
          </a:prstGeom>
        </p:spPr>
      </p:pic>
      <p:pic>
        <p:nvPicPr>
          <p:cNvPr id="7" name="Picture 6">
            <a:extLst>
              <a:ext uri="{FF2B5EF4-FFF2-40B4-BE49-F238E27FC236}">
                <a16:creationId xmlns:a16="http://schemas.microsoft.com/office/drawing/2014/main" id="{1CD73E36-38D6-5F6F-E85D-72183B6706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7499323" y="1788536"/>
            <a:ext cx="5293377" cy="3577184"/>
          </a:xfrm>
          <a:prstGeom prst="rect">
            <a:avLst/>
          </a:prstGeom>
        </p:spPr>
      </p:pic>
      <p:pic>
        <p:nvPicPr>
          <p:cNvPr id="10" name="Picture 9">
            <a:extLst>
              <a:ext uri="{FF2B5EF4-FFF2-40B4-BE49-F238E27FC236}">
                <a16:creationId xmlns:a16="http://schemas.microsoft.com/office/drawing/2014/main" id="{5C055402-052A-468B-09EC-9D8C9BC249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3611160" y="1640559"/>
            <a:ext cx="5293373" cy="3873137"/>
          </a:xfrm>
          <a:prstGeom prst="rect">
            <a:avLst/>
          </a:prstGeom>
        </p:spPr>
      </p:pic>
    </p:spTree>
    <p:extLst>
      <p:ext uri="{BB962C8B-B14F-4D97-AF65-F5344CB8AC3E}">
        <p14:creationId xmlns:p14="http://schemas.microsoft.com/office/powerpoint/2010/main" val="396137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09323-8AEE-01B9-4E9D-A45B1D1943F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3978556-E855-485A-1043-E52D77955833}"/>
              </a:ext>
            </a:extLst>
          </p:cNvPr>
          <p:cNvSpPr txBox="1">
            <a:spLocks/>
          </p:cNvSpPr>
          <p:nvPr/>
        </p:nvSpPr>
        <p:spPr>
          <a:xfrm>
            <a:off x="257396" y="236496"/>
            <a:ext cx="10486803" cy="526959"/>
          </a:xfrm>
          <a:prstGeom prst="rect">
            <a:avLst/>
          </a:prstGeom>
          <a:solidFill>
            <a:schemeClr val="accent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12.1KM</a:t>
            </a:r>
          </a:p>
        </p:txBody>
      </p:sp>
      <p:sp>
        <p:nvSpPr>
          <p:cNvPr id="2" name="TextBox 1">
            <a:extLst>
              <a:ext uri="{FF2B5EF4-FFF2-40B4-BE49-F238E27FC236}">
                <a16:creationId xmlns:a16="http://schemas.microsoft.com/office/drawing/2014/main" id="{6063B81C-6B8B-ED0F-26CD-8B3D46394B16}"/>
              </a:ext>
            </a:extLst>
          </p:cNvPr>
          <p:cNvSpPr txBox="1"/>
          <p:nvPr/>
        </p:nvSpPr>
        <p:spPr>
          <a:xfrm>
            <a:off x="257396" y="969411"/>
            <a:ext cx="10486803" cy="1323439"/>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t>Location: 12.1KM from NAR014</a:t>
            </a:r>
          </a:p>
          <a:p>
            <a:pPr marL="285750" indent="-285750">
              <a:buFont typeface="Wingdings" panose="05000000000000000000" pitchFamily="2" charset="2"/>
              <a:buChar char="Ø"/>
            </a:pPr>
            <a:r>
              <a:rPr lang="en-US" altLang="en-US" sz="1600" dirty="0">
                <a:latin typeface="Arial" pitchFamily="34" charset="0"/>
                <a:cs typeface="Arial" pitchFamily="34" charset="0"/>
              </a:rPr>
              <a:t>Enclosure under the road and not accessible</a:t>
            </a:r>
            <a:endParaRPr lang="en-US" sz="1600" dirty="0"/>
          </a:p>
          <a:p>
            <a:pPr marL="285750" indent="-285750">
              <a:buFont typeface="Wingdings" panose="05000000000000000000" pitchFamily="2" charset="2"/>
              <a:buChar char="Ø"/>
            </a:pPr>
            <a:r>
              <a:rPr lang="en-US" sz="1600" dirty="0"/>
              <a:t>Bypass section: 0.6KM</a:t>
            </a:r>
          </a:p>
          <a:p>
            <a:pPr marL="285750" indent="-285750">
              <a:buFont typeface="Wingdings" panose="05000000000000000000" pitchFamily="2" charset="2"/>
              <a:buChar char="Ø"/>
            </a:pPr>
            <a:r>
              <a:rPr lang="en-US" sz="1600" dirty="0"/>
              <a:t>UG not feasible due to presence of temple and no space at roadside, one paved road crossing</a:t>
            </a:r>
          </a:p>
          <a:p>
            <a:pPr marL="285750" indent="-285750">
              <a:buFont typeface="Wingdings" panose="05000000000000000000" pitchFamily="2" charset="2"/>
              <a:buChar char="Ø"/>
            </a:pPr>
            <a:r>
              <a:rPr lang="en-US" sz="1600" dirty="0"/>
              <a:t>One side is agricultural land and another side is river presence. 300m UG &amp;300m ADSS bypass required.</a:t>
            </a:r>
          </a:p>
        </p:txBody>
      </p:sp>
      <p:sp>
        <p:nvSpPr>
          <p:cNvPr id="4" name="TextBox 3">
            <a:extLst>
              <a:ext uri="{FF2B5EF4-FFF2-40B4-BE49-F238E27FC236}">
                <a16:creationId xmlns:a16="http://schemas.microsoft.com/office/drawing/2014/main" id="{602474CC-5F16-7CD1-EAFC-3CAC3E357562}"/>
              </a:ext>
            </a:extLst>
          </p:cNvPr>
          <p:cNvSpPr txBox="1"/>
          <p:nvPr/>
        </p:nvSpPr>
        <p:spPr>
          <a:xfrm>
            <a:off x="257396" y="2215601"/>
            <a:ext cx="4793226" cy="369332"/>
          </a:xfrm>
          <a:prstGeom prst="rect">
            <a:avLst/>
          </a:prstGeom>
          <a:noFill/>
        </p:spPr>
        <p:txBody>
          <a:bodyPr wrap="square" rtlCol="0">
            <a:spAutoFit/>
          </a:bodyPr>
          <a:lstStyle/>
          <a:p>
            <a:r>
              <a:rPr lang="en-US" dirty="0"/>
              <a:t>Start Point</a:t>
            </a:r>
          </a:p>
        </p:txBody>
      </p:sp>
      <p:sp>
        <p:nvSpPr>
          <p:cNvPr id="7" name="TextBox 6">
            <a:extLst>
              <a:ext uri="{FF2B5EF4-FFF2-40B4-BE49-F238E27FC236}">
                <a16:creationId xmlns:a16="http://schemas.microsoft.com/office/drawing/2014/main" id="{27456892-511E-9283-F694-AD2E77BE1B4F}"/>
              </a:ext>
            </a:extLst>
          </p:cNvPr>
          <p:cNvSpPr txBox="1"/>
          <p:nvPr/>
        </p:nvSpPr>
        <p:spPr>
          <a:xfrm>
            <a:off x="8347586" y="2231294"/>
            <a:ext cx="4793226" cy="369332"/>
          </a:xfrm>
          <a:prstGeom prst="rect">
            <a:avLst/>
          </a:prstGeom>
          <a:noFill/>
        </p:spPr>
        <p:txBody>
          <a:bodyPr wrap="square" rtlCol="0">
            <a:spAutoFit/>
          </a:bodyPr>
          <a:lstStyle/>
          <a:p>
            <a:r>
              <a:rPr lang="en-US" dirty="0"/>
              <a:t>End Point</a:t>
            </a:r>
          </a:p>
        </p:txBody>
      </p:sp>
      <p:pic>
        <p:nvPicPr>
          <p:cNvPr id="9" name="Picture 8">
            <a:extLst>
              <a:ext uri="{FF2B5EF4-FFF2-40B4-BE49-F238E27FC236}">
                <a16:creationId xmlns:a16="http://schemas.microsoft.com/office/drawing/2014/main" id="{A0598598-D039-494A-93CC-D5A24C362D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54266" y="2685934"/>
            <a:ext cx="4122657" cy="3916398"/>
          </a:xfrm>
          <a:prstGeom prst="rect">
            <a:avLst/>
          </a:prstGeom>
        </p:spPr>
      </p:pic>
      <p:pic>
        <p:nvPicPr>
          <p:cNvPr id="12" name="Picture 11">
            <a:extLst>
              <a:ext uri="{FF2B5EF4-FFF2-40B4-BE49-F238E27FC236}">
                <a16:creationId xmlns:a16="http://schemas.microsoft.com/office/drawing/2014/main" id="{32851EE4-5BEC-B4D6-18CA-072B55AD4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7996387" y="2890269"/>
            <a:ext cx="4166390" cy="3463992"/>
          </a:xfrm>
          <a:prstGeom prst="rect">
            <a:avLst/>
          </a:prstGeom>
        </p:spPr>
      </p:pic>
      <p:pic>
        <p:nvPicPr>
          <p:cNvPr id="15" name="Picture 14">
            <a:extLst>
              <a:ext uri="{FF2B5EF4-FFF2-40B4-BE49-F238E27FC236}">
                <a16:creationId xmlns:a16="http://schemas.microsoft.com/office/drawing/2014/main" id="{83F224E7-A0F8-D663-C454-4AE54EE922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4161756" y="2685934"/>
            <a:ext cx="4122655" cy="3916397"/>
          </a:xfrm>
          <a:prstGeom prst="rect">
            <a:avLst/>
          </a:prstGeom>
        </p:spPr>
      </p:pic>
    </p:spTree>
    <p:extLst>
      <p:ext uri="{BB962C8B-B14F-4D97-AF65-F5344CB8AC3E}">
        <p14:creationId xmlns:p14="http://schemas.microsoft.com/office/powerpoint/2010/main" val="2552530332"/>
      </p:ext>
    </p:extLst>
  </p:cSld>
  <p:clrMapOvr>
    <a:masterClrMapping/>
  </p:clrMapOvr>
  <p:transition advClick="0">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60FC7-31B8-D386-F878-3738268D217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A76FE04-ECED-D9D1-19A2-1921EA56C319}"/>
              </a:ext>
            </a:extLst>
          </p:cNvPr>
          <p:cNvSpPr txBox="1">
            <a:spLocks/>
          </p:cNvSpPr>
          <p:nvPr/>
        </p:nvSpPr>
        <p:spPr>
          <a:xfrm>
            <a:off x="257397" y="0"/>
            <a:ext cx="11467571" cy="499453"/>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12.1KM</a:t>
            </a:r>
          </a:p>
        </p:txBody>
      </p:sp>
      <p:pic>
        <p:nvPicPr>
          <p:cNvPr id="8" name="Picture 7">
            <a:extLst>
              <a:ext uri="{FF2B5EF4-FFF2-40B4-BE49-F238E27FC236}">
                <a16:creationId xmlns:a16="http://schemas.microsoft.com/office/drawing/2014/main" id="{981E89C2-FCCE-70EE-8D0C-D2EB87F2F6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680332" y="-771319"/>
            <a:ext cx="2992736" cy="5838602"/>
          </a:xfrm>
          <a:prstGeom prst="rect">
            <a:avLst/>
          </a:prstGeom>
        </p:spPr>
      </p:pic>
      <p:pic>
        <p:nvPicPr>
          <p:cNvPr id="11" name="Picture 10">
            <a:extLst>
              <a:ext uri="{FF2B5EF4-FFF2-40B4-BE49-F238E27FC236}">
                <a16:creationId xmlns:a16="http://schemas.microsoft.com/office/drawing/2014/main" id="{4591E35D-1AD2-B414-C4DC-16EA7E8CC6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9029" y="567383"/>
            <a:ext cx="5345939" cy="3076967"/>
          </a:xfrm>
          <a:prstGeom prst="rect">
            <a:avLst/>
          </a:prstGeom>
        </p:spPr>
      </p:pic>
      <p:pic>
        <p:nvPicPr>
          <p:cNvPr id="14" name="Picture 13">
            <a:extLst>
              <a:ext uri="{FF2B5EF4-FFF2-40B4-BE49-F238E27FC236}">
                <a16:creationId xmlns:a16="http://schemas.microsoft.com/office/drawing/2014/main" id="{F0CFF877-6A37-ECA1-DFF2-353A6A3C5F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397" y="3732251"/>
            <a:ext cx="5838603" cy="2632936"/>
          </a:xfrm>
          <a:prstGeom prst="rect">
            <a:avLst/>
          </a:prstGeom>
        </p:spPr>
      </p:pic>
      <p:pic>
        <p:nvPicPr>
          <p:cNvPr id="17" name="Picture 16">
            <a:extLst>
              <a:ext uri="{FF2B5EF4-FFF2-40B4-BE49-F238E27FC236}">
                <a16:creationId xmlns:a16="http://schemas.microsoft.com/office/drawing/2014/main" id="{7E45B6A1-A734-DDC5-270F-55832D40D3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7735531" y="2375750"/>
            <a:ext cx="2632936" cy="5345940"/>
          </a:xfrm>
          <a:prstGeom prst="rect">
            <a:avLst/>
          </a:prstGeom>
        </p:spPr>
      </p:pic>
    </p:spTree>
    <p:extLst>
      <p:ext uri="{BB962C8B-B14F-4D97-AF65-F5344CB8AC3E}">
        <p14:creationId xmlns:p14="http://schemas.microsoft.com/office/powerpoint/2010/main" val="3301832567"/>
      </p:ext>
    </p:extLst>
  </p:cSld>
  <p:clrMapOvr>
    <a:masterClrMapping/>
  </p:clrMapOvr>
  <p:transition advClick="0">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25281-28FB-CC47-7E28-6902E428B7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8D32D-2992-3ED0-EA1D-B84E3A08ADD6}"/>
              </a:ext>
            </a:extLst>
          </p:cNvPr>
          <p:cNvSpPr>
            <a:spLocks noGrp="1"/>
          </p:cNvSpPr>
          <p:nvPr>
            <p:ph type="ctrTitle"/>
          </p:nvPr>
        </p:nvSpPr>
        <p:spPr>
          <a:xfrm>
            <a:off x="271974" y="215241"/>
            <a:ext cx="11741122" cy="464234"/>
          </a:xfrm>
          <a:solidFill>
            <a:schemeClr val="accent1"/>
          </a:solidFill>
        </p:spPr>
        <p:txBody>
          <a:bodyPr>
            <a:normAutofit fontScale="90000"/>
          </a:bodyPr>
          <a:lstStyle/>
          <a:p>
            <a:r>
              <a:rPr lang="en-US" sz="2800" dirty="0"/>
              <a:t>16.4KM</a:t>
            </a:r>
          </a:p>
        </p:txBody>
      </p:sp>
      <p:sp>
        <p:nvSpPr>
          <p:cNvPr id="10" name="Title 1">
            <a:extLst>
              <a:ext uri="{FF2B5EF4-FFF2-40B4-BE49-F238E27FC236}">
                <a16:creationId xmlns:a16="http://schemas.microsoft.com/office/drawing/2014/main" id="{66FDF03F-4129-A05D-36DA-23F4563961BC}"/>
              </a:ext>
            </a:extLst>
          </p:cNvPr>
          <p:cNvSpPr txBox="1">
            <a:spLocks/>
          </p:cNvSpPr>
          <p:nvPr/>
        </p:nvSpPr>
        <p:spPr>
          <a:xfrm>
            <a:off x="257396" y="852205"/>
            <a:ext cx="11662631" cy="130106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1800" kern="1200">
                <a:solidFill>
                  <a:schemeClr val="bg1"/>
                </a:solidFill>
                <a:latin typeface="Myriad Pro" pitchFamily="34" charset="0"/>
                <a:ea typeface="+mj-ea"/>
                <a:cs typeface="+mj-cs"/>
              </a:defRPr>
            </a:lvl1pPr>
          </a:lstStyle>
          <a:p>
            <a:pPr marL="342900" lvl="0" indent="-342900">
              <a:buFont typeface="Wingdings" panose="05000000000000000000" pitchFamily="2" charset="2"/>
              <a:buChar char="Ø"/>
              <a:defRPr/>
            </a:pPr>
            <a:r>
              <a:rPr lang="en-US" altLang="en-US" sz="1600" dirty="0">
                <a:solidFill>
                  <a:schemeClr val="tx1"/>
                </a:solidFill>
                <a:latin typeface="Arial" pitchFamily="34" charset="0"/>
                <a:cs typeface="Arial" pitchFamily="34" charset="0"/>
              </a:rPr>
              <a:t>Enclosure under the water-logged are and not accessible for now.</a:t>
            </a:r>
          </a:p>
          <a:p>
            <a:pPr marL="342900" lvl="0" indent="-342900">
              <a:buFont typeface="Wingdings" panose="05000000000000000000" pitchFamily="2" charset="2"/>
              <a:buChar char="Ø"/>
              <a:defRPr/>
            </a:pPr>
            <a:r>
              <a:rPr lang="en-US" altLang="en-US" sz="1600" dirty="0">
                <a:solidFill>
                  <a:schemeClr val="tx1"/>
                </a:solidFill>
                <a:latin typeface="Arial" pitchFamily="34" charset="0"/>
                <a:cs typeface="Arial" pitchFamily="34" charset="0"/>
              </a:rPr>
              <a:t>Need to bypass approx. 1500m cable.</a:t>
            </a:r>
          </a:p>
          <a:p>
            <a:pPr marL="342900" lvl="0" indent="-342900">
              <a:buFont typeface="Wingdings" panose="05000000000000000000" pitchFamily="2" charset="2"/>
              <a:buChar char="Ø"/>
              <a:defRPr/>
            </a:pPr>
            <a:r>
              <a:rPr lang="en-US" altLang="en-US" sz="1600" dirty="0">
                <a:solidFill>
                  <a:schemeClr val="tx1"/>
                </a:solidFill>
                <a:latin typeface="Arial" pitchFamily="34" charset="0"/>
                <a:cs typeface="Arial" pitchFamily="34" charset="0"/>
              </a:rPr>
              <a:t>1400m UG feasible but after water drained out, crop harvesting and 100m ADSS</a:t>
            </a:r>
          </a:p>
          <a:p>
            <a:pPr marL="342900" indent="-342900">
              <a:buFont typeface="Wingdings" panose="05000000000000000000" pitchFamily="2" charset="2"/>
              <a:buChar char="Ø"/>
              <a:defRPr/>
            </a:pPr>
            <a:r>
              <a:rPr lang="en-US" altLang="en-US" sz="1600" dirty="0">
                <a:solidFill>
                  <a:schemeClr val="tx1"/>
                </a:solidFill>
                <a:latin typeface="Arial" pitchFamily="34" charset="0"/>
                <a:cs typeface="Arial" pitchFamily="34" charset="0"/>
              </a:rPr>
              <a:t>1 canal present, GI pipe required</a:t>
            </a:r>
          </a:p>
          <a:p>
            <a:pPr marL="342900" indent="-342900">
              <a:buFont typeface="Wingdings" panose="05000000000000000000" pitchFamily="2" charset="2"/>
              <a:buChar char="Ø"/>
              <a:defRPr/>
            </a:pPr>
            <a:r>
              <a:rPr lang="en-US" altLang="en-US" sz="1600" dirty="0">
                <a:solidFill>
                  <a:schemeClr val="tx1"/>
                </a:solidFill>
                <a:latin typeface="Arial" pitchFamily="34" charset="0"/>
                <a:cs typeface="Arial" pitchFamily="34" charset="0"/>
              </a:rPr>
              <a:t>12m DWC. pipe required due to home pipe</a:t>
            </a:r>
          </a:p>
          <a:p>
            <a:pPr marL="342900" indent="-342900">
              <a:buFont typeface="Wingdings" panose="05000000000000000000" pitchFamily="2" charset="2"/>
              <a:buChar char="Ø"/>
              <a:defRPr/>
            </a:pPr>
            <a:endParaRPr lang="en-US" altLang="en-US" sz="1600" dirty="0">
              <a:solidFill>
                <a:schemeClr val="tx1"/>
              </a:solidFill>
              <a:latin typeface="Arial" pitchFamily="34" charset="0"/>
              <a:cs typeface="Arial" pitchFamily="34" charset="0"/>
            </a:endParaRPr>
          </a:p>
        </p:txBody>
      </p:sp>
      <p:pic>
        <p:nvPicPr>
          <p:cNvPr id="5" name="Picture 4">
            <a:extLst>
              <a:ext uri="{FF2B5EF4-FFF2-40B4-BE49-F238E27FC236}">
                <a16:creationId xmlns:a16="http://schemas.microsoft.com/office/drawing/2014/main" id="{1EB18A8C-9D49-4C25-DFF5-DBC6799EEF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436739" y="1141771"/>
            <a:ext cx="1740310" cy="3763296"/>
          </a:xfrm>
          <a:prstGeom prst="rect">
            <a:avLst/>
          </a:prstGeom>
        </p:spPr>
      </p:pic>
      <p:pic>
        <p:nvPicPr>
          <p:cNvPr id="9" name="Picture 8">
            <a:extLst>
              <a:ext uri="{FF2B5EF4-FFF2-40B4-BE49-F238E27FC236}">
                <a16:creationId xmlns:a16="http://schemas.microsoft.com/office/drawing/2014/main" id="{E7787047-7359-1776-B95E-B80A901D1B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939249" y="2486005"/>
            <a:ext cx="2642747" cy="5670755"/>
          </a:xfrm>
          <a:prstGeom prst="rect">
            <a:avLst/>
          </a:prstGeom>
        </p:spPr>
      </p:pic>
      <p:pic>
        <p:nvPicPr>
          <p:cNvPr id="12" name="Picture 11">
            <a:extLst>
              <a:ext uri="{FF2B5EF4-FFF2-40B4-BE49-F238E27FC236}">
                <a16:creationId xmlns:a16="http://schemas.microsoft.com/office/drawing/2014/main" id="{A772B290-BD86-8664-C8C5-81D146FAEB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5126563" y="1327264"/>
            <a:ext cx="1785604" cy="3347011"/>
          </a:xfrm>
          <a:prstGeom prst="rect">
            <a:avLst/>
          </a:prstGeom>
        </p:spPr>
      </p:pic>
      <p:pic>
        <p:nvPicPr>
          <p:cNvPr id="14" name="Picture 13">
            <a:extLst>
              <a:ext uri="{FF2B5EF4-FFF2-40B4-BE49-F238E27FC236}">
                <a16:creationId xmlns:a16="http://schemas.microsoft.com/office/drawing/2014/main" id="{EC893B46-C0F3-D442-B359-C47D4DFA6B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46142" y="2107968"/>
            <a:ext cx="3920612" cy="1785605"/>
          </a:xfrm>
          <a:prstGeom prst="rect">
            <a:avLst/>
          </a:prstGeom>
        </p:spPr>
      </p:pic>
      <p:pic>
        <p:nvPicPr>
          <p:cNvPr id="16" name="Picture 15">
            <a:extLst>
              <a:ext uri="{FF2B5EF4-FFF2-40B4-BE49-F238E27FC236}">
                <a16:creationId xmlns:a16="http://schemas.microsoft.com/office/drawing/2014/main" id="{CFEEE8E4-5319-F2D6-2144-9A92AB83EE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7633270" y="2509273"/>
            <a:ext cx="2642748" cy="5624219"/>
          </a:xfrm>
          <a:prstGeom prst="rect">
            <a:avLst/>
          </a:prstGeom>
        </p:spPr>
      </p:pic>
    </p:spTree>
    <p:extLst>
      <p:ext uri="{BB962C8B-B14F-4D97-AF65-F5344CB8AC3E}">
        <p14:creationId xmlns:p14="http://schemas.microsoft.com/office/powerpoint/2010/main" val="1150569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457E3-D789-0979-BB3F-5862FB09E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F4FE7-712D-9C45-F5BA-CB954FE5FA88}"/>
              </a:ext>
            </a:extLst>
          </p:cNvPr>
          <p:cNvSpPr>
            <a:spLocks noGrp="1"/>
          </p:cNvSpPr>
          <p:nvPr>
            <p:ph type="ctrTitle"/>
          </p:nvPr>
        </p:nvSpPr>
        <p:spPr>
          <a:xfrm>
            <a:off x="271974" y="215241"/>
            <a:ext cx="11741122" cy="464234"/>
          </a:xfrm>
          <a:solidFill>
            <a:schemeClr val="accent1"/>
          </a:solidFill>
        </p:spPr>
        <p:txBody>
          <a:bodyPr>
            <a:normAutofit fontScale="90000"/>
          </a:bodyPr>
          <a:lstStyle/>
          <a:p>
            <a:r>
              <a:rPr lang="en-US" sz="2800" dirty="0"/>
              <a:t>16.4KM</a:t>
            </a:r>
          </a:p>
        </p:txBody>
      </p:sp>
      <p:pic>
        <p:nvPicPr>
          <p:cNvPr id="4" name="Picture 3">
            <a:extLst>
              <a:ext uri="{FF2B5EF4-FFF2-40B4-BE49-F238E27FC236}">
                <a16:creationId xmlns:a16="http://schemas.microsoft.com/office/drawing/2014/main" id="{0B7C0D20-9CF8-82C8-EAD2-49E86F759E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1875" y="1857614"/>
            <a:ext cx="5808565" cy="3761724"/>
          </a:xfrm>
          <a:prstGeom prst="rect">
            <a:avLst/>
          </a:prstGeom>
        </p:spPr>
      </p:pic>
      <p:pic>
        <p:nvPicPr>
          <p:cNvPr id="7" name="Picture 6">
            <a:extLst>
              <a:ext uri="{FF2B5EF4-FFF2-40B4-BE49-F238E27FC236}">
                <a16:creationId xmlns:a16="http://schemas.microsoft.com/office/drawing/2014/main" id="{CCEA1256-45E4-0E3F-E6F8-AD33133F9A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7308159" y="1857608"/>
            <a:ext cx="5808569" cy="3761726"/>
          </a:xfrm>
          <a:prstGeom prst="rect">
            <a:avLst/>
          </a:prstGeom>
        </p:spPr>
      </p:pic>
      <p:pic>
        <p:nvPicPr>
          <p:cNvPr id="10" name="Picture 9">
            <a:extLst>
              <a:ext uri="{FF2B5EF4-FFF2-40B4-BE49-F238E27FC236}">
                <a16:creationId xmlns:a16="http://schemas.microsoft.com/office/drawing/2014/main" id="{DE84D48C-CBF0-8F4E-F154-1A145788B2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3208139" y="1758106"/>
            <a:ext cx="5808568" cy="3960732"/>
          </a:xfrm>
          <a:prstGeom prst="rect">
            <a:avLst/>
          </a:prstGeom>
        </p:spPr>
      </p:pic>
    </p:spTree>
    <p:extLst>
      <p:ext uri="{BB962C8B-B14F-4D97-AF65-F5344CB8AC3E}">
        <p14:creationId xmlns:p14="http://schemas.microsoft.com/office/powerpoint/2010/main" val="4129954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457E3-D789-0979-BB3F-5862FB09E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F4FE7-712D-9C45-F5BA-CB954FE5FA88}"/>
              </a:ext>
            </a:extLst>
          </p:cNvPr>
          <p:cNvSpPr>
            <a:spLocks noGrp="1"/>
          </p:cNvSpPr>
          <p:nvPr>
            <p:ph type="ctrTitle"/>
          </p:nvPr>
        </p:nvSpPr>
        <p:spPr>
          <a:xfrm>
            <a:off x="271974" y="215241"/>
            <a:ext cx="11741122" cy="464234"/>
          </a:xfrm>
          <a:solidFill>
            <a:schemeClr val="accent1"/>
          </a:solidFill>
        </p:spPr>
        <p:txBody>
          <a:bodyPr>
            <a:normAutofit fontScale="90000"/>
          </a:bodyPr>
          <a:lstStyle/>
          <a:p>
            <a:r>
              <a:rPr lang="en-US" sz="2800" dirty="0"/>
              <a:t>16.4KM</a:t>
            </a:r>
          </a:p>
        </p:txBody>
      </p:sp>
      <p:pic>
        <p:nvPicPr>
          <p:cNvPr id="5" name="Picture 4">
            <a:extLst>
              <a:ext uri="{FF2B5EF4-FFF2-40B4-BE49-F238E27FC236}">
                <a16:creationId xmlns:a16="http://schemas.microsoft.com/office/drawing/2014/main" id="{D6409396-1E8A-87A6-2A9A-FE74F38A307B}"/>
              </a:ext>
            </a:extLst>
          </p:cNvPr>
          <p:cNvPicPr>
            <a:picLocks noChangeAspect="1"/>
          </p:cNvPicPr>
          <p:nvPr/>
        </p:nvPicPr>
        <p:blipFill>
          <a:blip r:embed="rId2"/>
          <a:stretch>
            <a:fillRect/>
          </a:stretch>
        </p:blipFill>
        <p:spPr>
          <a:xfrm rot="16200000">
            <a:off x="1745115" y="-654993"/>
            <a:ext cx="2749927" cy="5696208"/>
          </a:xfrm>
          <a:prstGeom prst="rect">
            <a:avLst/>
          </a:prstGeom>
        </p:spPr>
      </p:pic>
      <p:pic>
        <p:nvPicPr>
          <p:cNvPr id="9" name="Picture 8">
            <a:extLst>
              <a:ext uri="{FF2B5EF4-FFF2-40B4-BE49-F238E27FC236}">
                <a16:creationId xmlns:a16="http://schemas.microsoft.com/office/drawing/2014/main" id="{DF57995C-EC84-20C6-821A-089BABE31DE1}"/>
              </a:ext>
            </a:extLst>
          </p:cNvPr>
          <p:cNvPicPr>
            <a:picLocks noChangeAspect="1"/>
          </p:cNvPicPr>
          <p:nvPr/>
        </p:nvPicPr>
        <p:blipFill>
          <a:blip r:embed="rId3"/>
          <a:stretch>
            <a:fillRect/>
          </a:stretch>
        </p:blipFill>
        <p:spPr>
          <a:xfrm rot="16200000">
            <a:off x="1575273" y="2387850"/>
            <a:ext cx="3060461" cy="5696209"/>
          </a:xfrm>
          <a:prstGeom prst="rect">
            <a:avLst/>
          </a:prstGeom>
        </p:spPr>
      </p:pic>
      <p:pic>
        <p:nvPicPr>
          <p:cNvPr id="11" name="Picture 10">
            <a:extLst>
              <a:ext uri="{FF2B5EF4-FFF2-40B4-BE49-F238E27FC236}">
                <a16:creationId xmlns:a16="http://schemas.microsoft.com/office/drawing/2014/main" id="{E23435CB-351A-53EA-2CD4-2E85BE55D67C}"/>
              </a:ext>
            </a:extLst>
          </p:cNvPr>
          <p:cNvPicPr>
            <a:picLocks noChangeAspect="1"/>
          </p:cNvPicPr>
          <p:nvPr/>
        </p:nvPicPr>
        <p:blipFill>
          <a:blip r:embed="rId3"/>
          <a:stretch>
            <a:fillRect/>
          </a:stretch>
        </p:blipFill>
        <p:spPr>
          <a:xfrm rot="16200000">
            <a:off x="7743497" y="-701529"/>
            <a:ext cx="2749926" cy="5789278"/>
          </a:xfrm>
          <a:prstGeom prst="rect">
            <a:avLst/>
          </a:prstGeom>
        </p:spPr>
      </p:pic>
      <p:pic>
        <p:nvPicPr>
          <p:cNvPr id="13" name="Picture 12">
            <a:extLst>
              <a:ext uri="{FF2B5EF4-FFF2-40B4-BE49-F238E27FC236}">
                <a16:creationId xmlns:a16="http://schemas.microsoft.com/office/drawing/2014/main" id="{17D34E43-BE91-FA85-2DB9-AF63198C5217}"/>
              </a:ext>
            </a:extLst>
          </p:cNvPr>
          <p:cNvPicPr>
            <a:picLocks noChangeAspect="1"/>
          </p:cNvPicPr>
          <p:nvPr/>
        </p:nvPicPr>
        <p:blipFill>
          <a:blip r:embed="rId4"/>
          <a:stretch>
            <a:fillRect/>
          </a:stretch>
        </p:blipFill>
        <p:spPr>
          <a:xfrm rot="16200000">
            <a:off x="7582634" y="2346907"/>
            <a:ext cx="3060461" cy="5778089"/>
          </a:xfrm>
          <a:prstGeom prst="rect">
            <a:avLst/>
          </a:prstGeom>
        </p:spPr>
      </p:pic>
    </p:spTree>
    <p:extLst>
      <p:ext uri="{BB962C8B-B14F-4D97-AF65-F5344CB8AC3E}">
        <p14:creationId xmlns:p14="http://schemas.microsoft.com/office/powerpoint/2010/main" val="2757472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4FA3C-0E45-6A7C-FCAF-73AA9C1A6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3A2E4-B215-0773-D57B-E1749D737346}"/>
              </a:ext>
            </a:extLst>
          </p:cNvPr>
          <p:cNvSpPr>
            <a:spLocks noGrp="1"/>
          </p:cNvSpPr>
          <p:nvPr>
            <p:ph type="ctrTitle"/>
          </p:nvPr>
        </p:nvSpPr>
        <p:spPr>
          <a:xfrm>
            <a:off x="271974" y="215241"/>
            <a:ext cx="11741122" cy="464234"/>
          </a:xfrm>
          <a:solidFill>
            <a:schemeClr val="accent1"/>
          </a:solidFill>
        </p:spPr>
        <p:txBody>
          <a:bodyPr>
            <a:normAutofit fontScale="90000"/>
          </a:bodyPr>
          <a:lstStyle/>
          <a:p>
            <a:r>
              <a:rPr lang="en-US" sz="2800" dirty="0"/>
              <a:t>16.4KM</a:t>
            </a:r>
          </a:p>
        </p:txBody>
      </p:sp>
      <p:pic>
        <p:nvPicPr>
          <p:cNvPr id="4" name="Picture 3">
            <a:extLst>
              <a:ext uri="{FF2B5EF4-FFF2-40B4-BE49-F238E27FC236}">
                <a16:creationId xmlns:a16="http://schemas.microsoft.com/office/drawing/2014/main" id="{786228FA-52B9-0FBA-18DE-E7D02A7F30D5}"/>
              </a:ext>
            </a:extLst>
          </p:cNvPr>
          <p:cNvPicPr>
            <a:picLocks noChangeAspect="1"/>
          </p:cNvPicPr>
          <p:nvPr/>
        </p:nvPicPr>
        <p:blipFill>
          <a:blip r:embed="rId2"/>
          <a:stretch>
            <a:fillRect/>
          </a:stretch>
        </p:blipFill>
        <p:spPr>
          <a:xfrm rot="16200000">
            <a:off x="460500" y="942020"/>
            <a:ext cx="5556264" cy="5468936"/>
          </a:xfrm>
          <a:prstGeom prst="rect">
            <a:avLst/>
          </a:prstGeom>
        </p:spPr>
      </p:pic>
      <p:pic>
        <p:nvPicPr>
          <p:cNvPr id="6" name="Picture 5">
            <a:extLst>
              <a:ext uri="{FF2B5EF4-FFF2-40B4-BE49-F238E27FC236}">
                <a16:creationId xmlns:a16="http://schemas.microsoft.com/office/drawing/2014/main" id="{F9CC2181-E58B-C264-AD49-E0D72E0A2469}"/>
              </a:ext>
            </a:extLst>
          </p:cNvPr>
          <p:cNvPicPr>
            <a:picLocks noChangeAspect="1"/>
          </p:cNvPicPr>
          <p:nvPr/>
        </p:nvPicPr>
        <p:blipFill>
          <a:blip r:embed="rId3"/>
          <a:stretch>
            <a:fillRect/>
          </a:stretch>
        </p:blipFill>
        <p:spPr>
          <a:xfrm rot="16200000">
            <a:off x="6229882" y="764475"/>
            <a:ext cx="5556265" cy="5824026"/>
          </a:xfrm>
          <a:prstGeom prst="rect">
            <a:avLst/>
          </a:prstGeom>
        </p:spPr>
      </p:pic>
    </p:spTree>
    <p:extLst>
      <p:ext uri="{BB962C8B-B14F-4D97-AF65-F5344CB8AC3E}">
        <p14:creationId xmlns:p14="http://schemas.microsoft.com/office/powerpoint/2010/main" val="1944212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547F4-E705-8B75-AF2C-DA83ABE6ECB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0138710-5406-F7F0-A27A-7F6536D15A0D}"/>
              </a:ext>
            </a:extLst>
          </p:cNvPr>
          <p:cNvSpPr txBox="1">
            <a:spLocks/>
          </p:cNvSpPr>
          <p:nvPr/>
        </p:nvSpPr>
        <p:spPr>
          <a:xfrm>
            <a:off x="257396" y="152536"/>
            <a:ext cx="11533551" cy="816875"/>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20.5KM</a:t>
            </a:r>
          </a:p>
        </p:txBody>
      </p:sp>
      <p:sp>
        <p:nvSpPr>
          <p:cNvPr id="2" name="TextBox 1">
            <a:extLst>
              <a:ext uri="{FF2B5EF4-FFF2-40B4-BE49-F238E27FC236}">
                <a16:creationId xmlns:a16="http://schemas.microsoft.com/office/drawing/2014/main" id="{A8963E38-19D9-DD01-2239-34EACDFB3B73}"/>
              </a:ext>
            </a:extLst>
          </p:cNvPr>
          <p:cNvSpPr txBox="1"/>
          <p:nvPr/>
        </p:nvSpPr>
        <p:spPr>
          <a:xfrm>
            <a:off x="257395" y="2595180"/>
            <a:ext cx="5243752" cy="369332"/>
          </a:xfrm>
          <a:prstGeom prst="rect">
            <a:avLst/>
          </a:prstGeom>
          <a:noFill/>
        </p:spPr>
        <p:txBody>
          <a:bodyPr wrap="square" rtlCol="0">
            <a:spAutoFit/>
          </a:bodyPr>
          <a:lstStyle/>
          <a:p>
            <a:r>
              <a:rPr lang="en-US" dirty="0"/>
              <a:t>Start Point</a:t>
            </a:r>
          </a:p>
        </p:txBody>
      </p:sp>
      <p:sp>
        <p:nvSpPr>
          <p:cNvPr id="12" name="TextBox 11">
            <a:extLst>
              <a:ext uri="{FF2B5EF4-FFF2-40B4-BE49-F238E27FC236}">
                <a16:creationId xmlns:a16="http://schemas.microsoft.com/office/drawing/2014/main" id="{556D2D5F-C366-7F41-7D47-734F67AE0284}"/>
              </a:ext>
            </a:extLst>
          </p:cNvPr>
          <p:cNvSpPr txBox="1"/>
          <p:nvPr/>
        </p:nvSpPr>
        <p:spPr>
          <a:xfrm>
            <a:off x="5786282" y="2595180"/>
            <a:ext cx="5066771" cy="369332"/>
          </a:xfrm>
          <a:prstGeom prst="rect">
            <a:avLst/>
          </a:prstGeom>
          <a:noFill/>
        </p:spPr>
        <p:txBody>
          <a:bodyPr wrap="square" rtlCol="0">
            <a:spAutoFit/>
          </a:bodyPr>
          <a:lstStyle/>
          <a:p>
            <a:r>
              <a:rPr lang="en-US" dirty="0"/>
              <a:t>End Point</a:t>
            </a:r>
          </a:p>
        </p:txBody>
      </p:sp>
      <p:sp>
        <p:nvSpPr>
          <p:cNvPr id="18" name="TextBox 17">
            <a:extLst>
              <a:ext uri="{FF2B5EF4-FFF2-40B4-BE49-F238E27FC236}">
                <a16:creationId xmlns:a16="http://schemas.microsoft.com/office/drawing/2014/main" id="{7197CA3C-55B8-C30C-A826-17BA91EB2245}"/>
              </a:ext>
            </a:extLst>
          </p:cNvPr>
          <p:cNvSpPr txBox="1"/>
          <p:nvPr/>
        </p:nvSpPr>
        <p:spPr>
          <a:xfrm>
            <a:off x="257395" y="933187"/>
            <a:ext cx="11533551" cy="2308324"/>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t>Location: 20.5KM from NAR014, Enclosure is under road and not accessible</a:t>
            </a:r>
          </a:p>
          <a:p>
            <a:pPr marL="285750" indent="-285750">
              <a:buFont typeface="Wingdings" panose="05000000000000000000" pitchFamily="2" charset="2"/>
              <a:buChar char="Ø"/>
            </a:pPr>
            <a:r>
              <a:rPr lang="en-US" sz="1600" dirty="0"/>
              <a:t>Bypass section: 1.5km (</a:t>
            </a:r>
            <a:r>
              <a:rPr lang="en-US" sz="1600" dirty="0">
                <a:solidFill>
                  <a:srgbClr val="000000"/>
                </a:solidFill>
                <a:latin typeface="Arial" panose="020B0604020202020204" pitchFamily="34" charset="0"/>
              </a:rPr>
              <a:t>500 UG 1000 ADSS)</a:t>
            </a:r>
            <a:endParaRPr lang="en-US" sz="1600" dirty="0"/>
          </a:p>
          <a:p>
            <a:pPr marL="285750" indent="-285750">
              <a:buFont typeface="Wingdings" panose="05000000000000000000" pitchFamily="2" charset="2"/>
              <a:buChar char="Ø"/>
            </a:pPr>
            <a:r>
              <a:rPr lang="en-US" sz="1600" dirty="0"/>
              <a:t>UG permanent is not feasible due to market area, paved road, village area and no space available at road side</a:t>
            </a:r>
          </a:p>
          <a:p>
            <a:pPr marL="285750" indent="-285750">
              <a:buFont typeface="Wingdings" panose="05000000000000000000" pitchFamily="2" charset="2"/>
              <a:buChar char="Ø"/>
            </a:pPr>
            <a:r>
              <a:rPr lang="en-US" sz="1600" dirty="0"/>
              <a:t>One side drain and another side canal present</a:t>
            </a:r>
          </a:p>
          <a:p>
            <a:pPr marL="285750" indent="-285750">
              <a:buFont typeface="Wingdings" panose="05000000000000000000" pitchFamily="2" charset="2"/>
              <a:buChar char="Ø"/>
            </a:pPr>
            <a:r>
              <a:rPr lang="en-US" sz="1600" dirty="0"/>
              <a:t>2 Additional pole required</a:t>
            </a:r>
          </a:p>
          <a:p>
            <a:pPr marL="285750" indent="-285750">
              <a:buFont typeface="Wingdings" panose="05000000000000000000" pitchFamily="2" charset="2"/>
              <a:buChar char="Ø"/>
            </a:pPr>
            <a:r>
              <a:rPr lang="en-US" altLang="en-US" sz="1600" dirty="0">
                <a:latin typeface="Arial" pitchFamily="34" charset="0"/>
                <a:cs typeface="Arial" pitchFamily="34" charset="0"/>
              </a:rPr>
              <a:t>12m DWC. pipe required due to home pipe, PCC required</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endParaRPr lang="en-US" sz="1600" dirty="0"/>
          </a:p>
        </p:txBody>
      </p:sp>
      <p:pic>
        <p:nvPicPr>
          <p:cNvPr id="7" name="Picture 6">
            <a:extLst>
              <a:ext uri="{FF2B5EF4-FFF2-40B4-BE49-F238E27FC236}">
                <a16:creationId xmlns:a16="http://schemas.microsoft.com/office/drawing/2014/main" id="{4A287EEE-098E-9E4A-106F-ABE25A7CAF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97292" y="2201606"/>
            <a:ext cx="3763962" cy="5243752"/>
          </a:xfrm>
          <a:prstGeom prst="rect">
            <a:avLst/>
          </a:prstGeom>
        </p:spPr>
      </p:pic>
      <p:pic>
        <p:nvPicPr>
          <p:cNvPr id="9" name="Picture 8">
            <a:extLst>
              <a:ext uri="{FF2B5EF4-FFF2-40B4-BE49-F238E27FC236}">
                <a16:creationId xmlns:a16="http://schemas.microsoft.com/office/drawing/2014/main" id="{042F464F-496D-64D5-930E-A4A5D6FFDB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9975" y="2912600"/>
            <a:ext cx="5203078" cy="3792862"/>
          </a:xfrm>
          <a:prstGeom prst="rect">
            <a:avLst/>
          </a:prstGeom>
        </p:spPr>
      </p:pic>
    </p:spTree>
    <p:extLst>
      <p:ext uri="{BB962C8B-B14F-4D97-AF65-F5344CB8AC3E}">
        <p14:creationId xmlns:p14="http://schemas.microsoft.com/office/powerpoint/2010/main" val="1638323173"/>
      </p:ext>
    </p:extLst>
  </p:cSld>
  <p:clrMapOvr>
    <a:masterClrMapping/>
  </p:clrMapOvr>
  <p:transition advClick="0">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747D0-41BC-E0F5-C823-5F3C1481D52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21B0B0B-4253-D608-0B17-2D0012F43880}"/>
              </a:ext>
            </a:extLst>
          </p:cNvPr>
          <p:cNvSpPr txBox="1">
            <a:spLocks/>
          </p:cNvSpPr>
          <p:nvPr/>
        </p:nvSpPr>
        <p:spPr>
          <a:xfrm>
            <a:off x="316390" y="206478"/>
            <a:ext cx="11559220" cy="453217"/>
          </a:xfrm>
          <a:prstGeom prst="rect">
            <a:avLst/>
          </a:prstGeom>
          <a:solidFill>
            <a:schemeClr val="accent1"/>
          </a:solidFill>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20.5KM</a:t>
            </a:r>
          </a:p>
        </p:txBody>
      </p:sp>
      <p:pic>
        <p:nvPicPr>
          <p:cNvPr id="4" name="Picture 3">
            <a:extLst>
              <a:ext uri="{FF2B5EF4-FFF2-40B4-BE49-F238E27FC236}">
                <a16:creationId xmlns:a16="http://schemas.microsoft.com/office/drawing/2014/main" id="{5AFE1D4A-923C-BEC1-061D-2BABC5C0FE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67367" y="104585"/>
            <a:ext cx="2673440" cy="3975389"/>
          </a:xfrm>
          <a:prstGeom prst="rect">
            <a:avLst/>
          </a:prstGeom>
        </p:spPr>
      </p:pic>
      <p:pic>
        <p:nvPicPr>
          <p:cNvPr id="8" name="Picture 7">
            <a:extLst>
              <a:ext uri="{FF2B5EF4-FFF2-40B4-BE49-F238E27FC236}">
                <a16:creationId xmlns:a16="http://schemas.microsoft.com/office/drawing/2014/main" id="{99BC5BD9-BE68-3FF2-2B24-7D3A309FE9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8752760" y="306144"/>
            <a:ext cx="2673440" cy="3572268"/>
          </a:xfrm>
          <a:prstGeom prst="rect">
            <a:avLst/>
          </a:prstGeom>
        </p:spPr>
      </p:pic>
      <p:pic>
        <p:nvPicPr>
          <p:cNvPr id="12" name="Picture 11">
            <a:extLst>
              <a:ext uri="{FF2B5EF4-FFF2-40B4-BE49-F238E27FC236}">
                <a16:creationId xmlns:a16="http://schemas.microsoft.com/office/drawing/2014/main" id="{51C76130-A2FB-9CE8-5B2E-9C9FB2DA7C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740762" y="3100497"/>
            <a:ext cx="3126658" cy="3975392"/>
          </a:xfrm>
          <a:prstGeom prst="rect">
            <a:avLst/>
          </a:prstGeom>
        </p:spPr>
      </p:pic>
      <p:pic>
        <p:nvPicPr>
          <p:cNvPr id="15" name="Picture 14">
            <a:extLst>
              <a:ext uri="{FF2B5EF4-FFF2-40B4-BE49-F238E27FC236}">
                <a16:creationId xmlns:a16="http://schemas.microsoft.com/office/drawing/2014/main" id="{1FBEB761-000D-BD3D-6CD9-4ACABB9909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8526146" y="3302057"/>
            <a:ext cx="3126660" cy="3572267"/>
          </a:xfrm>
          <a:prstGeom prst="rect">
            <a:avLst/>
          </a:prstGeom>
        </p:spPr>
      </p:pic>
      <p:pic>
        <p:nvPicPr>
          <p:cNvPr id="17" name="Picture 16">
            <a:extLst>
              <a:ext uri="{FF2B5EF4-FFF2-40B4-BE49-F238E27FC236}">
                <a16:creationId xmlns:a16="http://schemas.microsoft.com/office/drawing/2014/main" id="{AC697D6C-787E-30B8-E287-12BFA84E32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4951627" y="228449"/>
            <a:ext cx="2673439" cy="3727655"/>
          </a:xfrm>
          <a:prstGeom prst="rect">
            <a:avLst/>
          </a:prstGeom>
        </p:spPr>
      </p:pic>
      <p:pic>
        <p:nvPicPr>
          <p:cNvPr id="19" name="Picture 18">
            <a:extLst>
              <a:ext uri="{FF2B5EF4-FFF2-40B4-BE49-F238E27FC236}">
                <a16:creationId xmlns:a16="http://schemas.microsoft.com/office/drawing/2014/main" id="{03B83652-612B-8F98-A94C-9495890AD47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4725018" y="3224361"/>
            <a:ext cx="3126662" cy="3727657"/>
          </a:xfrm>
          <a:prstGeom prst="rect">
            <a:avLst/>
          </a:prstGeom>
        </p:spPr>
      </p:pic>
    </p:spTree>
    <p:extLst>
      <p:ext uri="{BB962C8B-B14F-4D97-AF65-F5344CB8AC3E}">
        <p14:creationId xmlns:p14="http://schemas.microsoft.com/office/powerpoint/2010/main" val="2778656418"/>
      </p:ext>
    </p:extLst>
  </p:cSld>
  <p:clrMapOvr>
    <a:masterClrMapping/>
  </p:clrMapOvr>
  <p:transition advClick="0">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7043A-59A8-8BD9-2740-432B3FA01E3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68571B6-F9D8-946F-25E2-A4C1487C812F}"/>
              </a:ext>
            </a:extLst>
          </p:cNvPr>
          <p:cNvSpPr txBox="1">
            <a:spLocks/>
          </p:cNvSpPr>
          <p:nvPr/>
        </p:nvSpPr>
        <p:spPr>
          <a:xfrm>
            <a:off x="404880" y="163260"/>
            <a:ext cx="10486803" cy="456171"/>
          </a:xfrm>
          <a:prstGeom prst="rect">
            <a:avLst/>
          </a:prstGeom>
          <a:solidFill>
            <a:schemeClr val="accent1"/>
          </a:solidFill>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20.5KM</a:t>
            </a:r>
          </a:p>
        </p:txBody>
      </p:sp>
      <p:pic>
        <p:nvPicPr>
          <p:cNvPr id="6" name="Picture 5">
            <a:extLst>
              <a:ext uri="{FF2B5EF4-FFF2-40B4-BE49-F238E27FC236}">
                <a16:creationId xmlns:a16="http://schemas.microsoft.com/office/drawing/2014/main" id="{56A5E840-06E7-3472-595C-966EE5B802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881" y="744793"/>
            <a:ext cx="5096268" cy="2573595"/>
          </a:xfrm>
          <a:prstGeom prst="rect">
            <a:avLst/>
          </a:prstGeom>
        </p:spPr>
      </p:pic>
      <p:pic>
        <p:nvPicPr>
          <p:cNvPr id="9" name="Picture 8">
            <a:extLst>
              <a:ext uri="{FF2B5EF4-FFF2-40B4-BE49-F238E27FC236}">
                <a16:creationId xmlns:a16="http://schemas.microsoft.com/office/drawing/2014/main" id="{F55A0CBE-FF49-9383-894B-3285098719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7007943" y="-570271"/>
            <a:ext cx="2573593" cy="5203723"/>
          </a:xfrm>
          <a:prstGeom prst="rect">
            <a:avLst/>
          </a:prstGeom>
        </p:spPr>
      </p:pic>
      <p:pic>
        <p:nvPicPr>
          <p:cNvPr id="12" name="Picture 11">
            <a:extLst>
              <a:ext uri="{FF2B5EF4-FFF2-40B4-BE49-F238E27FC236}">
                <a16:creationId xmlns:a16="http://schemas.microsoft.com/office/drawing/2014/main" id="{31BD9464-5AAF-46A5-A336-1FEDE365D6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1327520" y="2521110"/>
            <a:ext cx="3250989" cy="5096268"/>
          </a:xfrm>
          <a:prstGeom prst="rect">
            <a:avLst/>
          </a:prstGeom>
        </p:spPr>
      </p:pic>
      <p:pic>
        <p:nvPicPr>
          <p:cNvPr id="15" name="Picture 14">
            <a:extLst>
              <a:ext uri="{FF2B5EF4-FFF2-40B4-BE49-F238E27FC236}">
                <a16:creationId xmlns:a16="http://schemas.microsoft.com/office/drawing/2014/main" id="{9788E512-2296-AC3D-2FF8-38B3067A1B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6666786" y="2469842"/>
            <a:ext cx="3250991" cy="5198803"/>
          </a:xfrm>
          <a:prstGeom prst="rect">
            <a:avLst/>
          </a:prstGeom>
        </p:spPr>
      </p:pic>
    </p:spTree>
    <p:extLst>
      <p:ext uri="{BB962C8B-B14F-4D97-AF65-F5344CB8AC3E}">
        <p14:creationId xmlns:p14="http://schemas.microsoft.com/office/powerpoint/2010/main" val="210368272"/>
      </p:ext>
    </p:extLst>
  </p:cSld>
  <p:clrMapOvr>
    <a:masterClrMapping/>
  </p:clrMapOvr>
  <p:transition advClick="0">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48CD3-7AAD-166C-9D4C-FEF70B47B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B6477-F91D-F8CF-303E-B0B9692FC41D}"/>
              </a:ext>
            </a:extLst>
          </p:cNvPr>
          <p:cNvSpPr>
            <a:spLocks noGrp="1"/>
          </p:cNvSpPr>
          <p:nvPr>
            <p:ph type="ctrTitle"/>
          </p:nvPr>
        </p:nvSpPr>
        <p:spPr>
          <a:xfrm>
            <a:off x="271974" y="215241"/>
            <a:ext cx="11741122" cy="464234"/>
          </a:xfrm>
          <a:solidFill>
            <a:schemeClr val="accent1"/>
          </a:solidFill>
        </p:spPr>
        <p:txBody>
          <a:bodyPr>
            <a:normAutofit fontScale="90000"/>
          </a:bodyPr>
          <a:lstStyle/>
          <a:p>
            <a:r>
              <a:rPr lang="en-US" sz="2800" dirty="0"/>
              <a:t>20.5KM</a:t>
            </a:r>
          </a:p>
        </p:txBody>
      </p:sp>
      <p:pic>
        <p:nvPicPr>
          <p:cNvPr id="4" name="Picture 3">
            <a:extLst>
              <a:ext uri="{FF2B5EF4-FFF2-40B4-BE49-F238E27FC236}">
                <a16:creationId xmlns:a16="http://schemas.microsoft.com/office/drawing/2014/main" id="{DD98444F-0B56-BB2E-5E90-B68CB4799BA0}"/>
              </a:ext>
            </a:extLst>
          </p:cNvPr>
          <p:cNvPicPr>
            <a:picLocks noChangeAspect="1"/>
          </p:cNvPicPr>
          <p:nvPr/>
        </p:nvPicPr>
        <p:blipFill>
          <a:blip r:embed="rId2"/>
          <a:stretch>
            <a:fillRect/>
          </a:stretch>
        </p:blipFill>
        <p:spPr>
          <a:xfrm rot="16200000">
            <a:off x="-479925" y="1571516"/>
            <a:ext cx="5365710" cy="3891061"/>
          </a:xfrm>
          <a:prstGeom prst="rect">
            <a:avLst/>
          </a:prstGeom>
        </p:spPr>
      </p:pic>
      <p:pic>
        <p:nvPicPr>
          <p:cNvPr id="6" name="Picture 5">
            <a:extLst>
              <a:ext uri="{FF2B5EF4-FFF2-40B4-BE49-F238E27FC236}">
                <a16:creationId xmlns:a16="http://schemas.microsoft.com/office/drawing/2014/main" id="{41956F57-0055-A83A-88B2-4CC32BEA91F5}"/>
              </a:ext>
            </a:extLst>
          </p:cNvPr>
          <p:cNvPicPr>
            <a:picLocks noChangeAspect="1"/>
          </p:cNvPicPr>
          <p:nvPr/>
        </p:nvPicPr>
        <p:blipFill>
          <a:blip r:embed="rId3"/>
          <a:stretch>
            <a:fillRect/>
          </a:stretch>
        </p:blipFill>
        <p:spPr>
          <a:xfrm rot="16200000">
            <a:off x="7399284" y="1571515"/>
            <a:ext cx="5365714" cy="3891061"/>
          </a:xfrm>
          <a:prstGeom prst="rect">
            <a:avLst/>
          </a:prstGeom>
        </p:spPr>
      </p:pic>
      <p:pic>
        <p:nvPicPr>
          <p:cNvPr id="8" name="Picture 7">
            <a:extLst>
              <a:ext uri="{FF2B5EF4-FFF2-40B4-BE49-F238E27FC236}">
                <a16:creationId xmlns:a16="http://schemas.microsoft.com/office/drawing/2014/main" id="{7D488E71-8775-5BFA-5E11-3DA375DCA704}"/>
              </a:ext>
            </a:extLst>
          </p:cNvPr>
          <p:cNvPicPr>
            <a:picLocks noChangeAspect="1"/>
          </p:cNvPicPr>
          <p:nvPr/>
        </p:nvPicPr>
        <p:blipFill>
          <a:blip r:embed="rId4"/>
          <a:stretch>
            <a:fillRect/>
          </a:stretch>
        </p:blipFill>
        <p:spPr>
          <a:xfrm rot="16200000">
            <a:off x="3430198" y="1585250"/>
            <a:ext cx="5424675" cy="3891061"/>
          </a:xfrm>
          <a:prstGeom prst="rect">
            <a:avLst/>
          </a:prstGeom>
        </p:spPr>
      </p:pic>
    </p:spTree>
    <p:extLst>
      <p:ext uri="{BB962C8B-B14F-4D97-AF65-F5344CB8AC3E}">
        <p14:creationId xmlns:p14="http://schemas.microsoft.com/office/powerpoint/2010/main" val="179537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A18EC-35E6-DCCE-2DEA-384F252CB1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D5B70-C1F2-C02F-FCE8-8230E4B7E9D6}"/>
              </a:ext>
            </a:extLst>
          </p:cNvPr>
          <p:cNvSpPr>
            <a:spLocks noGrp="1"/>
          </p:cNvSpPr>
          <p:nvPr>
            <p:ph type="ctrTitle"/>
          </p:nvPr>
        </p:nvSpPr>
        <p:spPr>
          <a:xfrm>
            <a:off x="271974" y="215241"/>
            <a:ext cx="11741122" cy="464234"/>
          </a:xfrm>
          <a:solidFill>
            <a:schemeClr val="accent1"/>
          </a:solidFill>
        </p:spPr>
        <p:txBody>
          <a:bodyPr>
            <a:normAutofit fontScale="90000"/>
          </a:bodyPr>
          <a:lstStyle/>
          <a:p>
            <a:r>
              <a:rPr lang="en-US" sz="2800" dirty="0"/>
              <a:t>24.2KM</a:t>
            </a:r>
          </a:p>
        </p:txBody>
      </p:sp>
      <p:pic>
        <p:nvPicPr>
          <p:cNvPr id="9" name="Picture 8">
            <a:extLst>
              <a:ext uri="{FF2B5EF4-FFF2-40B4-BE49-F238E27FC236}">
                <a16:creationId xmlns:a16="http://schemas.microsoft.com/office/drawing/2014/main" id="{209885BD-A6C7-C041-D52C-E25D09D6A929}"/>
              </a:ext>
            </a:extLst>
          </p:cNvPr>
          <p:cNvPicPr>
            <a:picLocks noChangeAspect="1"/>
          </p:cNvPicPr>
          <p:nvPr/>
        </p:nvPicPr>
        <p:blipFill>
          <a:blip r:embed="rId2"/>
          <a:stretch>
            <a:fillRect/>
          </a:stretch>
        </p:blipFill>
        <p:spPr>
          <a:xfrm rot="16200000">
            <a:off x="8367401" y="3090131"/>
            <a:ext cx="4065755" cy="3039496"/>
          </a:xfrm>
          <a:prstGeom prst="rect">
            <a:avLst/>
          </a:prstGeom>
        </p:spPr>
      </p:pic>
      <p:pic>
        <p:nvPicPr>
          <p:cNvPr id="13" name="Picture 12">
            <a:extLst>
              <a:ext uri="{FF2B5EF4-FFF2-40B4-BE49-F238E27FC236}">
                <a16:creationId xmlns:a16="http://schemas.microsoft.com/office/drawing/2014/main" id="{4421828D-7453-9F47-490B-A7525FA364FD}"/>
              </a:ext>
            </a:extLst>
          </p:cNvPr>
          <p:cNvPicPr>
            <a:picLocks noChangeAspect="1"/>
          </p:cNvPicPr>
          <p:nvPr/>
        </p:nvPicPr>
        <p:blipFill>
          <a:blip r:embed="rId3"/>
          <a:stretch>
            <a:fillRect/>
          </a:stretch>
        </p:blipFill>
        <p:spPr>
          <a:xfrm rot="16200000">
            <a:off x="5477468" y="3344812"/>
            <a:ext cx="4065755" cy="2530135"/>
          </a:xfrm>
          <a:prstGeom prst="rect">
            <a:avLst/>
          </a:prstGeom>
        </p:spPr>
      </p:pic>
      <p:pic>
        <p:nvPicPr>
          <p:cNvPr id="15" name="Picture 14">
            <a:extLst>
              <a:ext uri="{FF2B5EF4-FFF2-40B4-BE49-F238E27FC236}">
                <a16:creationId xmlns:a16="http://schemas.microsoft.com/office/drawing/2014/main" id="{A39B84FE-7C1B-93D3-23CF-FB6E03F59312}"/>
              </a:ext>
            </a:extLst>
          </p:cNvPr>
          <p:cNvPicPr>
            <a:picLocks noChangeAspect="1"/>
          </p:cNvPicPr>
          <p:nvPr/>
        </p:nvPicPr>
        <p:blipFill>
          <a:blip r:embed="rId4"/>
          <a:stretch>
            <a:fillRect/>
          </a:stretch>
        </p:blipFill>
        <p:spPr>
          <a:xfrm rot="16200000">
            <a:off x="2666128" y="3168728"/>
            <a:ext cx="4065757" cy="2882306"/>
          </a:xfrm>
          <a:prstGeom prst="rect">
            <a:avLst/>
          </a:prstGeom>
        </p:spPr>
      </p:pic>
      <p:pic>
        <p:nvPicPr>
          <p:cNvPr id="17" name="Picture 16">
            <a:extLst>
              <a:ext uri="{FF2B5EF4-FFF2-40B4-BE49-F238E27FC236}">
                <a16:creationId xmlns:a16="http://schemas.microsoft.com/office/drawing/2014/main" id="{6187EB2B-E60C-F64B-0320-B57F1BE4D33C}"/>
              </a:ext>
            </a:extLst>
          </p:cNvPr>
          <p:cNvPicPr>
            <a:picLocks noChangeAspect="1"/>
          </p:cNvPicPr>
          <p:nvPr/>
        </p:nvPicPr>
        <p:blipFill>
          <a:blip r:embed="rId5"/>
          <a:stretch>
            <a:fillRect/>
          </a:stretch>
        </p:blipFill>
        <p:spPr>
          <a:xfrm rot="16200000">
            <a:off x="-319748" y="3168726"/>
            <a:ext cx="4065756" cy="2882308"/>
          </a:xfrm>
          <a:prstGeom prst="rect">
            <a:avLst/>
          </a:prstGeom>
        </p:spPr>
      </p:pic>
      <p:sp>
        <p:nvSpPr>
          <p:cNvPr id="19" name="Title 1">
            <a:extLst>
              <a:ext uri="{FF2B5EF4-FFF2-40B4-BE49-F238E27FC236}">
                <a16:creationId xmlns:a16="http://schemas.microsoft.com/office/drawing/2014/main" id="{EF3C5D9B-C959-0097-FD3C-9B47A4FC6D0C}"/>
              </a:ext>
            </a:extLst>
          </p:cNvPr>
          <p:cNvSpPr txBox="1">
            <a:spLocks/>
          </p:cNvSpPr>
          <p:nvPr/>
        </p:nvSpPr>
        <p:spPr>
          <a:xfrm>
            <a:off x="257396" y="852205"/>
            <a:ext cx="11662631" cy="140941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1800" kern="1200">
                <a:solidFill>
                  <a:schemeClr val="bg1"/>
                </a:solidFill>
                <a:latin typeface="Myriad Pro" pitchFamily="34" charset="0"/>
                <a:ea typeface="+mj-ea"/>
                <a:cs typeface="+mj-cs"/>
              </a:defRPr>
            </a:lvl1pPr>
          </a:lstStyle>
          <a:p>
            <a:pPr marL="342900" lvl="0" indent="-342900">
              <a:lnSpc>
                <a:spcPct val="150000"/>
              </a:lnSpc>
              <a:buFont typeface="Wingdings" panose="05000000000000000000" pitchFamily="2" charset="2"/>
              <a:buChar char="Ø"/>
              <a:defRPr/>
            </a:pPr>
            <a:r>
              <a:rPr lang="en-US" altLang="en-US" sz="1600" dirty="0">
                <a:solidFill>
                  <a:schemeClr val="tx1"/>
                </a:solidFill>
                <a:latin typeface="Arial" pitchFamily="34" charset="0"/>
                <a:cs typeface="Arial" pitchFamily="34" charset="0"/>
              </a:rPr>
              <a:t>Enclosure under the road and not accessible for now.</a:t>
            </a:r>
          </a:p>
          <a:p>
            <a:pPr marL="342900" indent="-342900">
              <a:lnSpc>
                <a:spcPct val="150000"/>
              </a:lnSpc>
              <a:buFont typeface="Wingdings" panose="05000000000000000000" pitchFamily="2" charset="2"/>
              <a:buChar char="Ø"/>
              <a:defRPr/>
            </a:pPr>
            <a:r>
              <a:rPr lang="en-US" altLang="en-US" sz="1600" dirty="0">
                <a:solidFill>
                  <a:schemeClr val="tx1"/>
                </a:solidFill>
                <a:latin typeface="Arial" pitchFamily="34" charset="0"/>
                <a:cs typeface="Arial" pitchFamily="34" charset="0"/>
              </a:rPr>
              <a:t>Approx </a:t>
            </a:r>
            <a:r>
              <a:rPr lang="en-US" sz="1600" dirty="0">
                <a:solidFill>
                  <a:srgbClr val="000000"/>
                </a:solidFill>
                <a:latin typeface="Arial" panose="020B0604020202020204" pitchFamily="34" charset="0"/>
              </a:rPr>
              <a:t>700 UG 1500 ADSS total 2.2km cable bypassed</a:t>
            </a:r>
            <a:r>
              <a:rPr lang="en-US" altLang="en-US" sz="1600" dirty="0">
                <a:solidFill>
                  <a:schemeClr val="tx1"/>
                </a:solidFill>
                <a:latin typeface="Arial" pitchFamily="34" charset="0"/>
                <a:cs typeface="Arial" pitchFamily="34" charset="0"/>
              </a:rPr>
              <a:t>.</a:t>
            </a:r>
          </a:p>
          <a:p>
            <a:pPr marL="342900" lvl="0" indent="-342900">
              <a:lnSpc>
                <a:spcPct val="150000"/>
              </a:lnSpc>
              <a:buFont typeface="Wingdings" panose="05000000000000000000" pitchFamily="2" charset="2"/>
              <a:buChar char="Ø"/>
              <a:defRPr/>
            </a:pPr>
            <a:r>
              <a:rPr lang="en-US" altLang="en-US" sz="1600" dirty="0">
                <a:solidFill>
                  <a:schemeClr val="tx1"/>
                </a:solidFill>
                <a:latin typeface="Arial" pitchFamily="34" charset="0"/>
                <a:cs typeface="Arial" pitchFamily="34" charset="0"/>
              </a:rPr>
              <a:t>1 bridge available.</a:t>
            </a:r>
          </a:p>
          <a:p>
            <a:pPr marL="342900" lvl="0" indent="-342900">
              <a:lnSpc>
                <a:spcPct val="150000"/>
              </a:lnSpc>
              <a:buFont typeface="Wingdings" panose="05000000000000000000" pitchFamily="2" charset="2"/>
              <a:buChar char="Ø"/>
              <a:defRPr/>
            </a:pPr>
            <a:r>
              <a:rPr lang="en-US" altLang="en-US" sz="1600" dirty="0">
                <a:solidFill>
                  <a:schemeClr val="tx1"/>
                </a:solidFill>
                <a:latin typeface="Arial" pitchFamily="34" charset="0"/>
                <a:cs typeface="Arial" pitchFamily="34" charset="0"/>
              </a:rPr>
              <a:t>Manual trenching required on both site of bridge due to paved road</a:t>
            </a:r>
          </a:p>
          <a:p>
            <a:pPr marL="342900" lvl="0" indent="-342900">
              <a:lnSpc>
                <a:spcPct val="150000"/>
              </a:lnSpc>
              <a:buFont typeface="Wingdings" panose="05000000000000000000" pitchFamily="2" charset="2"/>
              <a:buChar char="Ø"/>
              <a:defRPr/>
            </a:pPr>
            <a:r>
              <a:rPr lang="en-US" altLang="en-US" sz="1600" dirty="0">
                <a:solidFill>
                  <a:schemeClr val="tx1"/>
                </a:solidFill>
                <a:latin typeface="Arial" pitchFamily="34" charset="0"/>
                <a:cs typeface="Arial" pitchFamily="34" charset="0"/>
              </a:rPr>
              <a:t>6m DWC pipe, PCC required</a:t>
            </a:r>
          </a:p>
        </p:txBody>
      </p:sp>
    </p:spTree>
    <p:extLst>
      <p:ext uri="{BB962C8B-B14F-4D97-AF65-F5344CB8AC3E}">
        <p14:creationId xmlns:p14="http://schemas.microsoft.com/office/powerpoint/2010/main" val="967313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13DE5-17BD-CF5D-7A6A-6C2B410D962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660ECC7-2771-6385-42FF-80F956275D65}"/>
              </a:ext>
            </a:extLst>
          </p:cNvPr>
          <p:cNvSpPr txBox="1">
            <a:spLocks/>
          </p:cNvSpPr>
          <p:nvPr/>
        </p:nvSpPr>
        <p:spPr>
          <a:xfrm>
            <a:off x="690013" y="132481"/>
            <a:ext cx="10486803" cy="526959"/>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24.2KM</a:t>
            </a:r>
          </a:p>
        </p:txBody>
      </p:sp>
      <p:pic>
        <p:nvPicPr>
          <p:cNvPr id="6" name="Picture 5">
            <a:extLst>
              <a:ext uri="{FF2B5EF4-FFF2-40B4-BE49-F238E27FC236}">
                <a16:creationId xmlns:a16="http://schemas.microsoft.com/office/drawing/2014/main" id="{5222407E-0BF9-F91E-A45B-91B68AD009FE}"/>
              </a:ext>
            </a:extLst>
          </p:cNvPr>
          <p:cNvPicPr>
            <a:picLocks noChangeAspect="1"/>
          </p:cNvPicPr>
          <p:nvPr/>
        </p:nvPicPr>
        <p:blipFill>
          <a:blip r:embed="rId2"/>
          <a:stretch>
            <a:fillRect/>
          </a:stretch>
        </p:blipFill>
        <p:spPr>
          <a:xfrm>
            <a:off x="690013" y="1045170"/>
            <a:ext cx="5199507" cy="5145815"/>
          </a:xfrm>
          <a:prstGeom prst="rect">
            <a:avLst/>
          </a:prstGeom>
        </p:spPr>
      </p:pic>
      <p:pic>
        <p:nvPicPr>
          <p:cNvPr id="11" name="Picture 10">
            <a:extLst>
              <a:ext uri="{FF2B5EF4-FFF2-40B4-BE49-F238E27FC236}">
                <a16:creationId xmlns:a16="http://schemas.microsoft.com/office/drawing/2014/main" id="{F6800E0B-3CDA-C260-0852-496F8E29C8AD}"/>
              </a:ext>
            </a:extLst>
          </p:cNvPr>
          <p:cNvPicPr>
            <a:picLocks noChangeAspect="1"/>
          </p:cNvPicPr>
          <p:nvPr/>
        </p:nvPicPr>
        <p:blipFill>
          <a:blip r:embed="rId3"/>
          <a:stretch>
            <a:fillRect/>
          </a:stretch>
        </p:blipFill>
        <p:spPr>
          <a:xfrm>
            <a:off x="6096000" y="1045169"/>
            <a:ext cx="5080818" cy="5145815"/>
          </a:xfrm>
          <a:prstGeom prst="rect">
            <a:avLst/>
          </a:prstGeom>
        </p:spPr>
      </p:pic>
    </p:spTree>
    <p:extLst>
      <p:ext uri="{BB962C8B-B14F-4D97-AF65-F5344CB8AC3E}">
        <p14:creationId xmlns:p14="http://schemas.microsoft.com/office/powerpoint/2010/main" val="2785286335"/>
      </p:ext>
    </p:extLst>
  </p:cSld>
  <p:clrMapOvr>
    <a:masterClrMapping/>
  </p:clrMapOvr>
  <p:transition advClick="0">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110EB-9F22-747D-F40F-B0955942CE5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984CCC5-31F1-0150-8AD5-D4DF96B2FFC0}"/>
              </a:ext>
            </a:extLst>
          </p:cNvPr>
          <p:cNvSpPr txBox="1">
            <a:spLocks/>
          </p:cNvSpPr>
          <p:nvPr/>
        </p:nvSpPr>
        <p:spPr>
          <a:xfrm>
            <a:off x="257395" y="170407"/>
            <a:ext cx="10486803" cy="438469"/>
          </a:xfrm>
          <a:prstGeom prst="rect">
            <a:avLst/>
          </a:prstGeom>
          <a:solidFill>
            <a:schemeClr val="accent1"/>
          </a:solidFill>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3.) 24.2KM</a:t>
            </a:r>
          </a:p>
        </p:txBody>
      </p:sp>
      <p:pic>
        <p:nvPicPr>
          <p:cNvPr id="6" name="Picture 5">
            <a:extLst>
              <a:ext uri="{FF2B5EF4-FFF2-40B4-BE49-F238E27FC236}">
                <a16:creationId xmlns:a16="http://schemas.microsoft.com/office/drawing/2014/main" id="{F2A00648-03D3-B514-95F3-77884FB7D915}"/>
              </a:ext>
            </a:extLst>
          </p:cNvPr>
          <p:cNvPicPr>
            <a:picLocks noChangeAspect="1"/>
          </p:cNvPicPr>
          <p:nvPr/>
        </p:nvPicPr>
        <p:blipFill>
          <a:blip r:embed="rId2"/>
          <a:stretch>
            <a:fillRect/>
          </a:stretch>
        </p:blipFill>
        <p:spPr>
          <a:xfrm>
            <a:off x="257396" y="722672"/>
            <a:ext cx="3547688" cy="2937476"/>
          </a:xfrm>
          <a:prstGeom prst="rect">
            <a:avLst/>
          </a:prstGeom>
        </p:spPr>
      </p:pic>
      <p:pic>
        <p:nvPicPr>
          <p:cNvPr id="9" name="Picture 8">
            <a:extLst>
              <a:ext uri="{FF2B5EF4-FFF2-40B4-BE49-F238E27FC236}">
                <a16:creationId xmlns:a16="http://schemas.microsoft.com/office/drawing/2014/main" id="{449BBE87-B07C-749D-F4B6-95C5F729708B}"/>
              </a:ext>
            </a:extLst>
          </p:cNvPr>
          <p:cNvPicPr>
            <a:picLocks noChangeAspect="1"/>
          </p:cNvPicPr>
          <p:nvPr/>
        </p:nvPicPr>
        <p:blipFill>
          <a:blip r:embed="rId3"/>
          <a:stretch>
            <a:fillRect/>
          </a:stretch>
        </p:blipFill>
        <p:spPr>
          <a:xfrm>
            <a:off x="257395" y="3805084"/>
            <a:ext cx="3547687" cy="2663274"/>
          </a:xfrm>
          <a:prstGeom prst="rect">
            <a:avLst/>
          </a:prstGeom>
        </p:spPr>
      </p:pic>
      <p:pic>
        <p:nvPicPr>
          <p:cNvPr id="13" name="Picture 12">
            <a:extLst>
              <a:ext uri="{FF2B5EF4-FFF2-40B4-BE49-F238E27FC236}">
                <a16:creationId xmlns:a16="http://schemas.microsoft.com/office/drawing/2014/main" id="{29863ECF-BD39-3AFD-3D67-19E032235731}"/>
              </a:ext>
            </a:extLst>
          </p:cNvPr>
          <p:cNvPicPr>
            <a:picLocks noChangeAspect="1"/>
          </p:cNvPicPr>
          <p:nvPr/>
        </p:nvPicPr>
        <p:blipFill>
          <a:blip r:embed="rId4"/>
          <a:stretch>
            <a:fillRect/>
          </a:stretch>
        </p:blipFill>
        <p:spPr>
          <a:xfrm>
            <a:off x="7196511" y="722671"/>
            <a:ext cx="3547688" cy="2937475"/>
          </a:xfrm>
          <a:prstGeom prst="rect">
            <a:avLst/>
          </a:prstGeom>
        </p:spPr>
      </p:pic>
      <p:pic>
        <p:nvPicPr>
          <p:cNvPr id="15" name="Picture 14">
            <a:extLst>
              <a:ext uri="{FF2B5EF4-FFF2-40B4-BE49-F238E27FC236}">
                <a16:creationId xmlns:a16="http://schemas.microsoft.com/office/drawing/2014/main" id="{251B14C6-A2A8-911A-0486-238DA7E9D2E6}"/>
              </a:ext>
            </a:extLst>
          </p:cNvPr>
          <p:cNvPicPr>
            <a:picLocks noChangeAspect="1"/>
          </p:cNvPicPr>
          <p:nvPr/>
        </p:nvPicPr>
        <p:blipFill>
          <a:blip r:embed="rId5"/>
          <a:stretch>
            <a:fillRect/>
          </a:stretch>
        </p:blipFill>
        <p:spPr>
          <a:xfrm>
            <a:off x="7196510" y="3805084"/>
            <a:ext cx="3547688" cy="2663273"/>
          </a:xfrm>
          <a:prstGeom prst="rect">
            <a:avLst/>
          </a:prstGeom>
        </p:spPr>
      </p:pic>
      <p:pic>
        <p:nvPicPr>
          <p:cNvPr id="4" name="Picture 3">
            <a:extLst>
              <a:ext uri="{FF2B5EF4-FFF2-40B4-BE49-F238E27FC236}">
                <a16:creationId xmlns:a16="http://schemas.microsoft.com/office/drawing/2014/main" id="{E9507FDC-EBED-E9F8-0C92-D3C858E13959}"/>
              </a:ext>
            </a:extLst>
          </p:cNvPr>
          <p:cNvPicPr>
            <a:picLocks noChangeAspect="1"/>
          </p:cNvPicPr>
          <p:nvPr/>
        </p:nvPicPr>
        <p:blipFill>
          <a:blip r:embed="rId6"/>
          <a:stretch>
            <a:fillRect/>
          </a:stretch>
        </p:blipFill>
        <p:spPr>
          <a:xfrm>
            <a:off x="3927375" y="724661"/>
            <a:ext cx="3151851" cy="2916158"/>
          </a:xfrm>
          <a:prstGeom prst="rect">
            <a:avLst/>
          </a:prstGeom>
        </p:spPr>
      </p:pic>
      <p:pic>
        <p:nvPicPr>
          <p:cNvPr id="8" name="Picture 7">
            <a:extLst>
              <a:ext uri="{FF2B5EF4-FFF2-40B4-BE49-F238E27FC236}">
                <a16:creationId xmlns:a16="http://schemas.microsoft.com/office/drawing/2014/main" id="{473A4FFA-0D53-58EA-E096-018D17ED45A1}"/>
              </a:ext>
            </a:extLst>
          </p:cNvPr>
          <p:cNvPicPr>
            <a:picLocks noChangeAspect="1"/>
          </p:cNvPicPr>
          <p:nvPr/>
        </p:nvPicPr>
        <p:blipFill>
          <a:blip r:embed="rId7"/>
          <a:stretch>
            <a:fillRect/>
          </a:stretch>
        </p:blipFill>
        <p:spPr>
          <a:xfrm>
            <a:off x="3927374" y="3805084"/>
            <a:ext cx="3151851" cy="2643945"/>
          </a:xfrm>
          <a:prstGeom prst="rect">
            <a:avLst/>
          </a:prstGeom>
        </p:spPr>
      </p:pic>
    </p:spTree>
    <p:extLst>
      <p:ext uri="{BB962C8B-B14F-4D97-AF65-F5344CB8AC3E}">
        <p14:creationId xmlns:p14="http://schemas.microsoft.com/office/powerpoint/2010/main" val="1205543998"/>
      </p:ext>
    </p:extLst>
  </p:cSld>
  <p:clrMapOvr>
    <a:masterClrMapping/>
  </p:clrMapOvr>
  <p:transition advClick="0">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12471-4950-94B4-AB17-75134484154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70CAB90-D1CE-EDC2-606B-04A71A28A9B5}"/>
              </a:ext>
            </a:extLst>
          </p:cNvPr>
          <p:cNvSpPr txBox="1">
            <a:spLocks/>
          </p:cNvSpPr>
          <p:nvPr/>
        </p:nvSpPr>
        <p:spPr>
          <a:xfrm>
            <a:off x="257396" y="150459"/>
            <a:ext cx="10486804" cy="545968"/>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24.2KM</a:t>
            </a:r>
          </a:p>
        </p:txBody>
      </p:sp>
      <p:pic>
        <p:nvPicPr>
          <p:cNvPr id="4" name="Picture 3">
            <a:extLst>
              <a:ext uri="{FF2B5EF4-FFF2-40B4-BE49-F238E27FC236}">
                <a16:creationId xmlns:a16="http://schemas.microsoft.com/office/drawing/2014/main" id="{D13FFE82-1213-1E80-B274-E8530AF32445}"/>
              </a:ext>
            </a:extLst>
          </p:cNvPr>
          <p:cNvPicPr>
            <a:picLocks noChangeAspect="1"/>
          </p:cNvPicPr>
          <p:nvPr/>
        </p:nvPicPr>
        <p:blipFill>
          <a:blip r:embed="rId2"/>
          <a:stretch>
            <a:fillRect/>
          </a:stretch>
        </p:blipFill>
        <p:spPr>
          <a:xfrm>
            <a:off x="257396" y="855407"/>
            <a:ext cx="5184759" cy="2676094"/>
          </a:xfrm>
          <a:prstGeom prst="rect">
            <a:avLst/>
          </a:prstGeom>
        </p:spPr>
      </p:pic>
      <p:pic>
        <p:nvPicPr>
          <p:cNvPr id="8" name="Picture 7">
            <a:extLst>
              <a:ext uri="{FF2B5EF4-FFF2-40B4-BE49-F238E27FC236}">
                <a16:creationId xmlns:a16="http://schemas.microsoft.com/office/drawing/2014/main" id="{6793A594-7279-363D-9714-18D80BE22EC6}"/>
              </a:ext>
            </a:extLst>
          </p:cNvPr>
          <p:cNvPicPr>
            <a:picLocks noChangeAspect="1"/>
          </p:cNvPicPr>
          <p:nvPr/>
        </p:nvPicPr>
        <p:blipFill>
          <a:blip r:embed="rId3"/>
          <a:stretch>
            <a:fillRect/>
          </a:stretch>
        </p:blipFill>
        <p:spPr>
          <a:xfrm>
            <a:off x="257396" y="3622324"/>
            <a:ext cx="5184759" cy="2898293"/>
          </a:xfrm>
          <a:prstGeom prst="rect">
            <a:avLst/>
          </a:prstGeom>
        </p:spPr>
      </p:pic>
      <p:pic>
        <p:nvPicPr>
          <p:cNvPr id="11" name="Picture 10">
            <a:extLst>
              <a:ext uri="{FF2B5EF4-FFF2-40B4-BE49-F238E27FC236}">
                <a16:creationId xmlns:a16="http://schemas.microsoft.com/office/drawing/2014/main" id="{F4711BAB-DA2F-23DD-39BA-DE5E4D3593E4}"/>
              </a:ext>
            </a:extLst>
          </p:cNvPr>
          <p:cNvPicPr>
            <a:picLocks noChangeAspect="1"/>
          </p:cNvPicPr>
          <p:nvPr/>
        </p:nvPicPr>
        <p:blipFill>
          <a:blip r:embed="rId4"/>
          <a:stretch>
            <a:fillRect/>
          </a:stretch>
        </p:blipFill>
        <p:spPr>
          <a:xfrm>
            <a:off x="5559442" y="855407"/>
            <a:ext cx="5184758" cy="2676094"/>
          </a:xfrm>
          <a:prstGeom prst="rect">
            <a:avLst/>
          </a:prstGeom>
        </p:spPr>
      </p:pic>
      <p:pic>
        <p:nvPicPr>
          <p:cNvPr id="14" name="Picture 13">
            <a:extLst>
              <a:ext uri="{FF2B5EF4-FFF2-40B4-BE49-F238E27FC236}">
                <a16:creationId xmlns:a16="http://schemas.microsoft.com/office/drawing/2014/main" id="{DAFC4ECB-039D-FEEC-F2A5-7756C02C91B8}"/>
              </a:ext>
            </a:extLst>
          </p:cNvPr>
          <p:cNvPicPr>
            <a:picLocks noChangeAspect="1"/>
          </p:cNvPicPr>
          <p:nvPr/>
        </p:nvPicPr>
        <p:blipFill>
          <a:blip r:embed="rId5"/>
          <a:stretch>
            <a:fillRect/>
          </a:stretch>
        </p:blipFill>
        <p:spPr>
          <a:xfrm>
            <a:off x="5559442" y="3622324"/>
            <a:ext cx="5184758" cy="2812233"/>
          </a:xfrm>
          <a:prstGeom prst="rect">
            <a:avLst/>
          </a:prstGeom>
        </p:spPr>
      </p:pic>
    </p:spTree>
    <p:extLst>
      <p:ext uri="{BB962C8B-B14F-4D97-AF65-F5344CB8AC3E}">
        <p14:creationId xmlns:p14="http://schemas.microsoft.com/office/powerpoint/2010/main" val="1260685751"/>
      </p:ext>
    </p:extLst>
  </p:cSld>
  <p:clrMapOvr>
    <a:masterClrMapping/>
  </p:clrMapOvr>
  <p:transition advClick="0">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4598B-F812-7E29-27BE-6E782402754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BFA29DC-654F-7C15-8DEC-0FE70C562B88}"/>
              </a:ext>
            </a:extLst>
          </p:cNvPr>
          <p:cNvSpPr txBox="1">
            <a:spLocks/>
          </p:cNvSpPr>
          <p:nvPr/>
        </p:nvSpPr>
        <p:spPr>
          <a:xfrm>
            <a:off x="257395" y="97856"/>
            <a:ext cx="10486803" cy="48271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24.2KM</a:t>
            </a:r>
          </a:p>
        </p:txBody>
      </p:sp>
      <p:pic>
        <p:nvPicPr>
          <p:cNvPr id="4" name="Picture 3">
            <a:extLst>
              <a:ext uri="{FF2B5EF4-FFF2-40B4-BE49-F238E27FC236}">
                <a16:creationId xmlns:a16="http://schemas.microsoft.com/office/drawing/2014/main" id="{E8DCB90C-192A-D4E8-D507-27BC1C18512B}"/>
              </a:ext>
            </a:extLst>
          </p:cNvPr>
          <p:cNvPicPr>
            <a:picLocks noChangeAspect="1"/>
          </p:cNvPicPr>
          <p:nvPr/>
        </p:nvPicPr>
        <p:blipFill>
          <a:blip r:embed="rId2"/>
          <a:stretch>
            <a:fillRect/>
          </a:stretch>
        </p:blipFill>
        <p:spPr>
          <a:xfrm>
            <a:off x="257397" y="722673"/>
            <a:ext cx="3931146" cy="3097160"/>
          </a:xfrm>
          <a:prstGeom prst="rect">
            <a:avLst/>
          </a:prstGeom>
        </p:spPr>
      </p:pic>
      <p:pic>
        <p:nvPicPr>
          <p:cNvPr id="7" name="Picture 6">
            <a:extLst>
              <a:ext uri="{FF2B5EF4-FFF2-40B4-BE49-F238E27FC236}">
                <a16:creationId xmlns:a16="http://schemas.microsoft.com/office/drawing/2014/main" id="{903F652C-54AE-BD20-D368-81E66D3BE003}"/>
              </a:ext>
            </a:extLst>
          </p:cNvPr>
          <p:cNvPicPr>
            <a:picLocks noChangeAspect="1"/>
          </p:cNvPicPr>
          <p:nvPr/>
        </p:nvPicPr>
        <p:blipFill>
          <a:blip r:embed="rId3"/>
          <a:stretch>
            <a:fillRect/>
          </a:stretch>
        </p:blipFill>
        <p:spPr>
          <a:xfrm>
            <a:off x="7698657" y="722671"/>
            <a:ext cx="3045541" cy="3097159"/>
          </a:xfrm>
          <a:prstGeom prst="rect">
            <a:avLst/>
          </a:prstGeom>
        </p:spPr>
      </p:pic>
      <p:pic>
        <p:nvPicPr>
          <p:cNvPr id="9" name="Picture 8">
            <a:extLst>
              <a:ext uri="{FF2B5EF4-FFF2-40B4-BE49-F238E27FC236}">
                <a16:creationId xmlns:a16="http://schemas.microsoft.com/office/drawing/2014/main" id="{5763DFAC-A694-39C9-4626-924B37C3F26F}"/>
              </a:ext>
            </a:extLst>
          </p:cNvPr>
          <p:cNvPicPr>
            <a:picLocks noChangeAspect="1"/>
          </p:cNvPicPr>
          <p:nvPr/>
        </p:nvPicPr>
        <p:blipFill>
          <a:blip r:embed="rId4"/>
          <a:stretch>
            <a:fillRect/>
          </a:stretch>
        </p:blipFill>
        <p:spPr>
          <a:xfrm>
            <a:off x="257397" y="3956932"/>
            <a:ext cx="3931146" cy="2561855"/>
          </a:xfrm>
          <a:prstGeom prst="rect">
            <a:avLst/>
          </a:prstGeom>
        </p:spPr>
      </p:pic>
      <p:pic>
        <p:nvPicPr>
          <p:cNvPr id="11" name="Picture 10">
            <a:extLst>
              <a:ext uri="{FF2B5EF4-FFF2-40B4-BE49-F238E27FC236}">
                <a16:creationId xmlns:a16="http://schemas.microsoft.com/office/drawing/2014/main" id="{A08B6416-900B-E996-A019-2B734F3123CF}"/>
              </a:ext>
            </a:extLst>
          </p:cNvPr>
          <p:cNvPicPr>
            <a:picLocks noChangeAspect="1"/>
          </p:cNvPicPr>
          <p:nvPr/>
        </p:nvPicPr>
        <p:blipFill>
          <a:blip r:embed="rId5"/>
          <a:stretch>
            <a:fillRect/>
          </a:stretch>
        </p:blipFill>
        <p:spPr>
          <a:xfrm>
            <a:off x="7698657" y="3956931"/>
            <a:ext cx="3045541" cy="2561855"/>
          </a:xfrm>
          <a:prstGeom prst="rect">
            <a:avLst/>
          </a:prstGeom>
        </p:spPr>
      </p:pic>
      <p:pic>
        <p:nvPicPr>
          <p:cNvPr id="6" name="Picture 5">
            <a:extLst>
              <a:ext uri="{FF2B5EF4-FFF2-40B4-BE49-F238E27FC236}">
                <a16:creationId xmlns:a16="http://schemas.microsoft.com/office/drawing/2014/main" id="{4DDA6368-936F-173E-5907-9005F1F5470E}"/>
              </a:ext>
            </a:extLst>
          </p:cNvPr>
          <p:cNvPicPr>
            <a:picLocks noChangeAspect="1"/>
          </p:cNvPicPr>
          <p:nvPr/>
        </p:nvPicPr>
        <p:blipFill>
          <a:blip r:embed="rId6"/>
          <a:stretch>
            <a:fillRect/>
          </a:stretch>
        </p:blipFill>
        <p:spPr>
          <a:xfrm>
            <a:off x="4336026" y="722671"/>
            <a:ext cx="3247105" cy="3097159"/>
          </a:xfrm>
          <a:prstGeom prst="rect">
            <a:avLst/>
          </a:prstGeom>
        </p:spPr>
      </p:pic>
      <p:pic>
        <p:nvPicPr>
          <p:cNvPr id="10" name="Picture 9">
            <a:extLst>
              <a:ext uri="{FF2B5EF4-FFF2-40B4-BE49-F238E27FC236}">
                <a16:creationId xmlns:a16="http://schemas.microsoft.com/office/drawing/2014/main" id="{A465F4D4-3214-8F7C-8138-004BFD8DF3EE}"/>
              </a:ext>
            </a:extLst>
          </p:cNvPr>
          <p:cNvPicPr>
            <a:picLocks noChangeAspect="1"/>
          </p:cNvPicPr>
          <p:nvPr/>
        </p:nvPicPr>
        <p:blipFill>
          <a:blip r:embed="rId7"/>
          <a:stretch>
            <a:fillRect/>
          </a:stretch>
        </p:blipFill>
        <p:spPr>
          <a:xfrm>
            <a:off x="4336026" y="3956932"/>
            <a:ext cx="3247105" cy="2561855"/>
          </a:xfrm>
          <a:prstGeom prst="rect">
            <a:avLst/>
          </a:prstGeom>
        </p:spPr>
      </p:pic>
    </p:spTree>
    <p:extLst>
      <p:ext uri="{BB962C8B-B14F-4D97-AF65-F5344CB8AC3E}">
        <p14:creationId xmlns:p14="http://schemas.microsoft.com/office/powerpoint/2010/main" val="2357944042"/>
      </p:ext>
    </p:extLst>
  </p:cSld>
  <p:clrMapOvr>
    <a:masterClrMapping/>
  </p:clrMapOvr>
  <p:transition advClick="0">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D54C0-5FFD-D9D6-43A5-5E0D6B46A184}"/>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C9A8FF9-3E52-4C2E-8923-2AD2AFF7ADF6}"/>
              </a:ext>
            </a:extLst>
          </p:cNvPr>
          <p:cNvSpPr txBox="1">
            <a:spLocks/>
          </p:cNvSpPr>
          <p:nvPr/>
        </p:nvSpPr>
        <p:spPr>
          <a:xfrm>
            <a:off x="257396" y="115923"/>
            <a:ext cx="10486803" cy="512211"/>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29.5KM</a:t>
            </a:r>
          </a:p>
        </p:txBody>
      </p:sp>
      <p:pic>
        <p:nvPicPr>
          <p:cNvPr id="6" name="Picture 5">
            <a:extLst>
              <a:ext uri="{FF2B5EF4-FFF2-40B4-BE49-F238E27FC236}">
                <a16:creationId xmlns:a16="http://schemas.microsoft.com/office/drawing/2014/main" id="{056272EA-327F-22C8-3C39-56C109E6FF02}"/>
              </a:ext>
            </a:extLst>
          </p:cNvPr>
          <p:cNvPicPr>
            <a:picLocks noChangeAspect="1"/>
          </p:cNvPicPr>
          <p:nvPr/>
        </p:nvPicPr>
        <p:blipFill>
          <a:blip r:embed="rId2"/>
          <a:stretch>
            <a:fillRect/>
          </a:stretch>
        </p:blipFill>
        <p:spPr>
          <a:xfrm>
            <a:off x="257396" y="2776325"/>
            <a:ext cx="5317494" cy="3816205"/>
          </a:xfrm>
          <a:prstGeom prst="rect">
            <a:avLst/>
          </a:prstGeom>
        </p:spPr>
      </p:pic>
      <p:pic>
        <p:nvPicPr>
          <p:cNvPr id="10" name="Picture 9">
            <a:extLst>
              <a:ext uri="{FF2B5EF4-FFF2-40B4-BE49-F238E27FC236}">
                <a16:creationId xmlns:a16="http://schemas.microsoft.com/office/drawing/2014/main" id="{CBB4176E-EBE1-961B-D43E-42DD4F92731F}"/>
              </a:ext>
            </a:extLst>
          </p:cNvPr>
          <p:cNvPicPr>
            <a:picLocks noChangeAspect="1"/>
          </p:cNvPicPr>
          <p:nvPr/>
        </p:nvPicPr>
        <p:blipFill>
          <a:blip r:embed="rId3"/>
          <a:stretch>
            <a:fillRect/>
          </a:stretch>
        </p:blipFill>
        <p:spPr>
          <a:xfrm>
            <a:off x="5737123" y="2776325"/>
            <a:ext cx="5007075" cy="3816204"/>
          </a:xfrm>
          <a:prstGeom prst="rect">
            <a:avLst/>
          </a:prstGeom>
        </p:spPr>
      </p:pic>
      <p:sp>
        <p:nvSpPr>
          <p:cNvPr id="11" name="TextBox 10">
            <a:extLst>
              <a:ext uri="{FF2B5EF4-FFF2-40B4-BE49-F238E27FC236}">
                <a16:creationId xmlns:a16="http://schemas.microsoft.com/office/drawing/2014/main" id="{05BA0B94-D6BC-2D0B-E0F4-D74D05AF3B19}"/>
              </a:ext>
            </a:extLst>
          </p:cNvPr>
          <p:cNvSpPr txBox="1"/>
          <p:nvPr/>
        </p:nvSpPr>
        <p:spPr>
          <a:xfrm>
            <a:off x="257396" y="2303755"/>
            <a:ext cx="5184759" cy="369332"/>
          </a:xfrm>
          <a:prstGeom prst="rect">
            <a:avLst/>
          </a:prstGeom>
          <a:noFill/>
        </p:spPr>
        <p:txBody>
          <a:bodyPr wrap="square" rtlCol="0">
            <a:spAutoFit/>
          </a:bodyPr>
          <a:lstStyle/>
          <a:p>
            <a:r>
              <a:rPr lang="en-US" dirty="0"/>
              <a:t>Start Point</a:t>
            </a:r>
          </a:p>
        </p:txBody>
      </p:sp>
      <p:sp>
        <p:nvSpPr>
          <p:cNvPr id="14" name="TextBox 13">
            <a:extLst>
              <a:ext uri="{FF2B5EF4-FFF2-40B4-BE49-F238E27FC236}">
                <a16:creationId xmlns:a16="http://schemas.microsoft.com/office/drawing/2014/main" id="{5EDB11E5-4C28-C961-6EBD-81F4064431F4}"/>
              </a:ext>
            </a:extLst>
          </p:cNvPr>
          <p:cNvSpPr txBox="1"/>
          <p:nvPr/>
        </p:nvSpPr>
        <p:spPr>
          <a:xfrm>
            <a:off x="5737123" y="2303755"/>
            <a:ext cx="5184759" cy="369332"/>
          </a:xfrm>
          <a:prstGeom prst="rect">
            <a:avLst/>
          </a:prstGeom>
          <a:noFill/>
        </p:spPr>
        <p:txBody>
          <a:bodyPr wrap="square" rtlCol="0">
            <a:spAutoFit/>
          </a:bodyPr>
          <a:lstStyle/>
          <a:p>
            <a:r>
              <a:rPr lang="en-US" dirty="0"/>
              <a:t>End  Point</a:t>
            </a:r>
          </a:p>
        </p:txBody>
      </p:sp>
      <p:sp>
        <p:nvSpPr>
          <p:cNvPr id="15" name="TextBox 14">
            <a:extLst>
              <a:ext uri="{FF2B5EF4-FFF2-40B4-BE49-F238E27FC236}">
                <a16:creationId xmlns:a16="http://schemas.microsoft.com/office/drawing/2014/main" id="{3EBF0335-41BE-5E4E-2428-F3416B57711C}"/>
              </a:ext>
            </a:extLst>
          </p:cNvPr>
          <p:cNvSpPr txBox="1"/>
          <p:nvPr/>
        </p:nvSpPr>
        <p:spPr>
          <a:xfrm>
            <a:off x="257396" y="969411"/>
            <a:ext cx="10486802" cy="1231106"/>
          </a:xfrm>
          <a:prstGeom prst="rect">
            <a:avLst/>
          </a:prstGeom>
          <a:noFill/>
        </p:spPr>
        <p:txBody>
          <a:bodyPr wrap="square" rtlCol="0">
            <a:spAutoFit/>
          </a:bodyPr>
          <a:lstStyle/>
          <a:p>
            <a:pPr marL="285750" indent="-285750">
              <a:buFont typeface="Wingdings" panose="05000000000000000000" pitchFamily="2" charset="2"/>
              <a:buChar char="Ø"/>
            </a:pPr>
            <a:r>
              <a:rPr lang="en-US" dirty="0"/>
              <a:t>Location: 29.5KM from NAR014</a:t>
            </a:r>
          </a:p>
          <a:p>
            <a:pPr marL="285750" indent="-285750">
              <a:buFont typeface="Wingdings" panose="05000000000000000000" pitchFamily="2" charset="2"/>
              <a:buChar char="Ø"/>
            </a:pPr>
            <a:r>
              <a:rPr lang="en-US" dirty="0"/>
              <a:t>Bypass section: 500m</a:t>
            </a:r>
          </a:p>
          <a:p>
            <a:pPr marL="285750" indent="-285750">
              <a:buFont typeface="Wingdings" panose="05000000000000000000" pitchFamily="2" charset="2"/>
              <a:buChar char="Ø"/>
            </a:pPr>
            <a:r>
              <a:rPr lang="en-US" dirty="0"/>
              <a:t>UG not feasible due to no space at road side, paved road crossing and culvert presence.</a:t>
            </a:r>
          </a:p>
          <a:p>
            <a:pPr marL="342900" lvl="0" indent="-342900">
              <a:buFont typeface="Wingdings" panose="05000000000000000000" pitchFamily="2" charset="2"/>
              <a:buChar char="Ø"/>
              <a:defRPr/>
            </a:pPr>
            <a:r>
              <a:rPr lang="en-US" altLang="en-US" dirty="0">
                <a:latin typeface="Arial" pitchFamily="34" charset="0"/>
                <a:cs typeface="Arial" pitchFamily="34" charset="0"/>
              </a:rPr>
              <a:t>NAR074 T-point will be bypass(250m ADSS). 1 pole required in road crossing for ADSS</a:t>
            </a:r>
          </a:p>
        </p:txBody>
      </p:sp>
    </p:spTree>
    <p:extLst>
      <p:ext uri="{BB962C8B-B14F-4D97-AF65-F5344CB8AC3E}">
        <p14:creationId xmlns:p14="http://schemas.microsoft.com/office/powerpoint/2010/main" val="846129056"/>
      </p:ext>
    </p:extLst>
  </p:cSld>
  <p:clrMapOvr>
    <a:masterClrMapping/>
  </p:clrMapOvr>
  <p:transition advClick="0">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2BB85-5514-3A94-30E3-5B983C6D551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D076994-3135-E964-DBDC-0E01F4C86DB4}"/>
              </a:ext>
            </a:extLst>
          </p:cNvPr>
          <p:cNvSpPr txBox="1">
            <a:spLocks/>
          </p:cNvSpPr>
          <p:nvPr/>
        </p:nvSpPr>
        <p:spPr>
          <a:xfrm>
            <a:off x="257396" y="200670"/>
            <a:ext cx="10486803" cy="51249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29.5KM</a:t>
            </a:r>
          </a:p>
        </p:txBody>
      </p:sp>
      <p:pic>
        <p:nvPicPr>
          <p:cNvPr id="7" name="Picture 6">
            <a:extLst>
              <a:ext uri="{FF2B5EF4-FFF2-40B4-BE49-F238E27FC236}">
                <a16:creationId xmlns:a16="http://schemas.microsoft.com/office/drawing/2014/main" id="{5AA4BCCA-EC8D-68B6-EA4D-8E64BFE15EC5}"/>
              </a:ext>
            </a:extLst>
          </p:cNvPr>
          <p:cNvPicPr>
            <a:picLocks noChangeAspect="1"/>
          </p:cNvPicPr>
          <p:nvPr/>
        </p:nvPicPr>
        <p:blipFill>
          <a:blip r:embed="rId2"/>
          <a:stretch>
            <a:fillRect/>
          </a:stretch>
        </p:blipFill>
        <p:spPr>
          <a:xfrm>
            <a:off x="257396" y="996874"/>
            <a:ext cx="5450230" cy="5404209"/>
          </a:xfrm>
          <a:prstGeom prst="rect">
            <a:avLst/>
          </a:prstGeom>
        </p:spPr>
      </p:pic>
      <p:pic>
        <p:nvPicPr>
          <p:cNvPr id="9" name="Picture 8">
            <a:extLst>
              <a:ext uri="{FF2B5EF4-FFF2-40B4-BE49-F238E27FC236}">
                <a16:creationId xmlns:a16="http://schemas.microsoft.com/office/drawing/2014/main" id="{C15653DF-7362-27BA-0A43-92BFBDA77770}"/>
              </a:ext>
            </a:extLst>
          </p:cNvPr>
          <p:cNvPicPr>
            <a:picLocks noChangeAspect="1"/>
          </p:cNvPicPr>
          <p:nvPr/>
        </p:nvPicPr>
        <p:blipFill>
          <a:blip r:embed="rId3"/>
          <a:stretch>
            <a:fillRect/>
          </a:stretch>
        </p:blipFill>
        <p:spPr>
          <a:xfrm>
            <a:off x="5817044" y="996874"/>
            <a:ext cx="4927155" cy="2911448"/>
          </a:xfrm>
          <a:prstGeom prst="rect">
            <a:avLst/>
          </a:prstGeom>
        </p:spPr>
      </p:pic>
      <p:pic>
        <p:nvPicPr>
          <p:cNvPr id="13" name="Picture 12">
            <a:extLst>
              <a:ext uri="{FF2B5EF4-FFF2-40B4-BE49-F238E27FC236}">
                <a16:creationId xmlns:a16="http://schemas.microsoft.com/office/drawing/2014/main" id="{C1668CB0-83E2-56F5-5240-5117F2F20D1B}"/>
              </a:ext>
            </a:extLst>
          </p:cNvPr>
          <p:cNvPicPr>
            <a:picLocks noChangeAspect="1"/>
          </p:cNvPicPr>
          <p:nvPr/>
        </p:nvPicPr>
        <p:blipFill>
          <a:blip r:embed="rId4"/>
          <a:stretch>
            <a:fillRect/>
          </a:stretch>
        </p:blipFill>
        <p:spPr>
          <a:xfrm>
            <a:off x="5817044" y="3935785"/>
            <a:ext cx="4927155" cy="2465296"/>
          </a:xfrm>
          <a:prstGeom prst="rect">
            <a:avLst/>
          </a:prstGeom>
        </p:spPr>
      </p:pic>
    </p:spTree>
    <p:extLst>
      <p:ext uri="{BB962C8B-B14F-4D97-AF65-F5344CB8AC3E}">
        <p14:creationId xmlns:p14="http://schemas.microsoft.com/office/powerpoint/2010/main" val="2192804916"/>
      </p:ext>
    </p:extLst>
  </p:cSld>
  <p:clrMapOvr>
    <a:masterClrMapping/>
  </p:clrMapOvr>
  <p:transition advClick="0">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5393D-8363-750F-05B7-BD54302CE9F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71D95DE-6523-D645-D311-90A1E65076FE}"/>
              </a:ext>
            </a:extLst>
          </p:cNvPr>
          <p:cNvSpPr txBox="1">
            <a:spLocks/>
          </p:cNvSpPr>
          <p:nvPr/>
        </p:nvSpPr>
        <p:spPr>
          <a:xfrm>
            <a:off x="257396" y="97857"/>
            <a:ext cx="10486803" cy="48271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37.5KM</a:t>
            </a:r>
          </a:p>
        </p:txBody>
      </p:sp>
      <p:sp>
        <p:nvSpPr>
          <p:cNvPr id="2" name="TextBox 1">
            <a:extLst>
              <a:ext uri="{FF2B5EF4-FFF2-40B4-BE49-F238E27FC236}">
                <a16:creationId xmlns:a16="http://schemas.microsoft.com/office/drawing/2014/main" id="{18732E70-44F2-9958-F005-36EA07558430}"/>
              </a:ext>
            </a:extLst>
          </p:cNvPr>
          <p:cNvSpPr txBox="1"/>
          <p:nvPr/>
        </p:nvSpPr>
        <p:spPr>
          <a:xfrm>
            <a:off x="257396" y="717056"/>
            <a:ext cx="10486803" cy="1477328"/>
          </a:xfrm>
          <a:prstGeom prst="rect">
            <a:avLst/>
          </a:prstGeom>
          <a:noFill/>
        </p:spPr>
        <p:txBody>
          <a:bodyPr wrap="square" rtlCol="0">
            <a:spAutoFit/>
          </a:bodyPr>
          <a:lstStyle/>
          <a:p>
            <a:pPr marL="285750" indent="-285750">
              <a:buFont typeface="Wingdings" panose="05000000000000000000" pitchFamily="2" charset="2"/>
              <a:buChar char="Ø"/>
            </a:pPr>
            <a:r>
              <a:rPr lang="en-US" dirty="0"/>
              <a:t>Location: 37.5KM from NAR014</a:t>
            </a:r>
          </a:p>
          <a:p>
            <a:pPr marL="285750" indent="-285750">
              <a:buFont typeface="Wingdings" panose="05000000000000000000" pitchFamily="2" charset="2"/>
              <a:buChar char="Ø"/>
            </a:pPr>
            <a:r>
              <a:rPr lang="en-US" dirty="0"/>
              <a:t>Bypass section: 3km (</a:t>
            </a:r>
            <a:r>
              <a:rPr lang="en-US" dirty="0">
                <a:solidFill>
                  <a:srgbClr val="000000"/>
                </a:solidFill>
                <a:latin typeface="Arial" panose="020B0604020202020204" pitchFamily="34" charset="0"/>
              </a:rPr>
              <a:t>2500 UG, 500 ADSS)</a:t>
            </a:r>
            <a:endParaRPr lang="en-US" dirty="0"/>
          </a:p>
          <a:p>
            <a:pPr marL="285750" indent="-285750">
              <a:buFont typeface="Wingdings" panose="05000000000000000000" pitchFamily="2" charset="2"/>
              <a:buChar char="Ø"/>
            </a:pPr>
            <a:r>
              <a:rPr lang="en-US" dirty="0"/>
              <a:t>Approx 2500m UG feasible and 500m not feasible due to fully water-logged area, tree at road side area</a:t>
            </a:r>
          </a:p>
          <a:p>
            <a:pPr marL="285750" indent="-285750">
              <a:buFont typeface="Wingdings" panose="05000000000000000000" pitchFamily="2" charset="2"/>
              <a:buChar char="Ø"/>
            </a:pPr>
            <a:r>
              <a:rPr lang="en-US" dirty="0"/>
              <a:t>Pole required for ADSS </a:t>
            </a:r>
          </a:p>
          <a:p>
            <a:endParaRPr lang="en-US" dirty="0"/>
          </a:p>
        </p:txBody>
      </p:sp>
      <p:pic>
        <p:nvPicPr>
          <p:cNvPr id="8" name="Picture 7">
            <a:extLst>
              <a:ext uri="{FF2B5EF4-FFF2-40B4-BE49-F238E27FC236}">
                <a16:creationId xmlns:a16="http://schemas.microsoft.com/office/drawing/2014/main" id="{A9B84E9C-96C2-7491-9952-AA345561E954}"/>
              </a:ext>
            </a:extLst>
          </p:cNvPr>
          <p:cNvPicPr>
            <a:picLocks noChangeAspect="1"/>
          </p:cNvPicPr>
          <p:nvPr/>
        </p:nvPicPr>
        <p:blipFill>
          <a:blip r:embed="rId2"/>
          <a:stretch>
            <a:fillRect/>
          </a:stretch>
        </p:blipFill>
        <p:spPr>
          <a:xfrm>
            <a:off x="257396" y="2492477"/>
            <a:ext cx="5052023" cy="4026309"/>
          </a:xfrm>
          <a:prstGeom prst="rect">
            <a:avLst/>
          </a:prstGeom>
        </p:spPr>
      </p:pic>
      <p:pic>
        <p:nvPicPr>
          <p:cNvPr id="12" name="Picture 11">
            <a:extLst>
              <a:ext uri="{FF2B5EF4-FFF2-40B4-BE49-F238E27FC236}">
                <a16:creationId xmlns:a16="http://schemas.microsoft.com/office/drawing/2014/main" id="{490354F5-4E4F-9DD5-9966-38274EC21C6C}"/>
              </a:ext>
            </a:extLst>
          </p:cNvPr>
          <p:cNvPicPr>
            <a:picLocks noChangeAspect="1"/>
          </p:cNvPicPr>
          <p:nvPr/>
        </p:nvPicPr>
        <p:blipFill>
          <a:blip r:embed="rId3"/>
          <a:stretch>
            <a:fillRect/>
          </a:stretch>
        </p:blipFill>
        <p:spPr>
          <a:xfrm>
            <a:off x="5436217" y="2492477"/>
            <a:ext cx="5307981" cy="4026309"/>
          </a:xfrm>
          <a:prstGeom prst="rect">
            <a:avLst/>
          </a:prstGeom>
        </p:spPr>
      </p:pic>
      <p:sp>
        <p:nvSpPr>
          <p:cNvPr id="13" name="TextBox 12">
            <a:extLst>
              <a:ext uri="{FF2B5EF4-FFF2-40B4-BE49-F238E27FC236}">
                <a16:creationId xmlns:a16="http://schemas.microsoft.com/office/drawing/2014/main" id="{1804E595-D859-ED1D-A200-BA8758E8F56C}"/>
              </a:ext>
            </a:extLst>
          </p:cNvPr>
          <p:cNvSpPr txBox="1"/>
          <p:nvPr/>
        </p:nvSpPr>
        <p:spPr>
          <a:xfrm>
            <a:off x="257396" y="2009718"/>
            <a:ext cx="5052023" cy="369332"/>
          </a:xfrm>
          <a:prstGeom prst="rect">
            <a:avLst/>
          </a:prstGeom>
          <a:noFill/>
        </p:spPr>
        <p:txBody>
          <a:bodyPr wrap="square" rtlCol="0">
            <a:spAutoFit/>
          </a:bodyPr>
          <a:lstStyle/>
          <a:p>
            <a:r>
              <a:rPr lang="en-US" dirty="0"/>
              <a:t>Start Point</a:t>
            </a:r>
          </a:p>
        </p:txBody>
      </p:sp>
      <p:sp>
        <p:nvSpPr>
          <p:cNvPr id="15" name="TextBox 14">
            <a:extLst>
              <a:ext uri="{FF2B5EF4-FFF2-40B4-BE49-F238E27FC236}">
                <a16:creationId xmlns:a16="http://schemas.microsoft.com/office/drawing/2014/main" id="{94E5CE5B-93AF-9BB1-DCBD-6C3325E83C97}"/>
              </a:ext>
            </a:extLst>
          </p:cNvPr>
          <p:cNvSpPr txBox="1"/>
          <p:nvPr/>
        </p:nvSpPr>
        <p:spPr>
          <a:xfrm>
            <a:off x="5436217" y="2009718"/>
            <a:ext cx="5052023" cy="369332"/>
          </a:xfrm>
          <a:prstGeom prst="rect">
            <a:avLst/>
          </a:prstGeom>
          <a:noFill/>
        </p:spPr>
        <p:txBody>
          <a:bodyPr wrap="square" rtlCol="0">
            <a:spAutoFit/>
          </a:bodyPr>
          <a:lstStyle/>
          <a:p>
            <a:r>
              <a:rPr lang="en-US" dirty="0"/>
              <a:t>End Point</a:t>
            </a:r>
          </a:p>
        </p:txBody>
      </p:sp>
    </p:spTree>
    <p:extLst>
      <p:ext uri="{BB962C8B-B14F-4D97-AF65-F5344CB8AC3E}">
        <p14:creationId xmlns:p14="http://schemas.microsoft.com/office/powerpoint/2010/main" val="2273930475"/>
      </p:ext>
    </p:extLst>
  </p:cSld>
  <p:clrMapOvr>
    <a:masterClrMapping/>
  </p:clrMapOvr>
  <p:transition advClick="0">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92F38-1732-0C8A-B878-0FC5E80D9FF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8411E6C-2088-CC03-9ACB-AAB8D522B6EF}"/>
              </a:ext>
            </a:extLst>
          </p:cNvPr>
          <p:cNvSpPr txBox="1">
            <a:spLocks/>
          </p:cNvSpPr>
          <p:nvPr/>
        </p:nvSpPr>
        <p:spPr>
          <a:xfrm>
            <a:off x="257396" y="128774"/>
            <a:ext cx="11677209" cy="48271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37.5KM</a:t>
            </a:r>
          </a:p>
        </p:txBody>
      </p:sp>
      <p:pic>
        <p:nvPicPr>
          <p:cNvPr id="7" name="Picture 6">
            <a:extLst>
              <a:ext uri="{FF2B5EF4-FFF2-40B4-BE49-F238E27FC236}">
                <a16:creationId xmlns:a16="http://schemas.microsoft.com/office/drawing/2014/main" id="{2FB175B9-5DE0-EE07-1937-05DDF2D92C8C}"/>
              </a:ext>
            </a:extLst>
          </p:cNvPr>
          <p:cNvPicPr>
            <a:picLocks noChangeAspect="1"/>
          </p:cNvPicPr>
          <p:nvPr/>
        </p:nvPicPr>
        <p:blipFill>
          <a:blip r:embed="rId2"/>
          <a:stretch>
            <a:fillRect/>
          </a:stretch>
        </p:blipFill>
        <p:spPr>
          <a:xfrm>
            <a:off x="257396" y="3901954"/>
            <a:ext cx="5671456" cy="2585915"/>
          </a:xfrm>
          <a:prstGeom prst="rect">
            <a:avLst/>
          </a:prstGeom>
        </p:spPr>
      </p:pic>
      <p:pic>
        <p:nvPicPr>
          <p:cNvPr id="9" name="Picture 8">
            <a:extLst>
              <a:ext uri="{FF2B5EF4-FFF2-40B4-BE49-F238E27FC236}">
                <a16:creationId xmlns:a16="http://schemas.microsoft.com/office/drawing/2014/main" id="{8C4A6059-4152-C925-A2F5-9A58D9C9807B}"/>
              </a:ext>
            </a:extLst>
          </p:cNvPr>
          <p:cNvPicPr>
            <a:picLocks noChangeAspect="1"/>
          </p:cNvPicPr>
          <p:nvPr/>
        </p:nvPicPr>
        <p:blipFill>
          <a:blip r:embed="rId3"/>
          <a:stretch>
            <a:fillRect/>
          </a:stretch>
        </p:blipFill>
        <p:spPr>
          <a:xfrm>
            <a:off x="6096001" y="781666"/>
            <a:ext cx="5838604" cy="2993920"/>
          </a:xfrm>
          <a:prstGeom prst="rect">
            <a:avLst/>
          </a:prstGeom>
        </p:spPr>
      </p:pic>
      <p:pic>
        <p:nvPicPr>
          <p:cNvPr id="11" name="Picture 10">
            <a:extLst>
              <a:ext uri="{FF2B5EF4-FFF2-40B4-BE49-F238E27FC236}">
                <a16:creationId xmlns:a16="http://schemas.microsoft.com/office/drawing/2014/main" id="{61D03741-6DD0-E521-95F7-234DC62F3AF4}"/>
              </a:ext>
            </a:extLst>
          </p:cNvPr>
          <p:cNvPicPr>
            <a:picLocks noChangeAspect="1"/>
          </p:cNvPicPr>
          <p:nvPr/>
        </p:nvPicPr>
        <p:blipFill>
          <a:blip r:embed="rId4"/>
          <a:stretch>
            <a:fillRect/>
          </a:stretch>
        </p:blipFill>
        <p:spPr>
          <a:xfrm>
            <a:off x="6096001" y="3901954"/>
            <a:ext cx="5838604" cy="2585915"/>
          </a:xfrm>
          <a:prstGeom prst="rect">
            <a:avLst/>
          </a:prstGeom>
        </p:spPr>
      </p:pic>
      <p:pic>
        <p:nvPicPr>
          <p:cNvPr id="6" name="Picture 5">
            <a:extLst>
              <a:ext uri="{FF2B5EF4-FFF2-40B4-BE49-F238E27FC236}">
                <a16:creationId xmlns:a16="http://schemas.microsoft.com/office/drawing/2014/main" id="{A0B60D74-B8F0-FC0F-B23D-B240C9F339E2}"/>
              </a:ext>
            </a:extLst>
          </p:cNvPr>
          <p:cNvPicPr>
            <a:picLocks noChangeAspect="1"/>
          </p:cNvPicPr>
          <p:nvPr/>
        </p:nvPicPr>
        <p:blipFill>
          <a:blip r:embed="rId5"/>
          <a:stretch>
            <a:fillRect/>
          </a:stretch>
        </p:blipFill>
        <p:spPr>
          <a:xfrm>
            <a:off x="257396" y="781666"/>
            <a:ext cx="5671456" cy="2993920"/>
          </a:xfrm>
          <a:prstGeom prst="rect">
            <a:avLst/>
          </a:prstGeom>
        </p:spPr>
      </p:pic>
    </p:spTree>
    <p:extLst>
      <p:ext uri="{BB962C8B-B14F-4D97-AF65-F5344CB8AC3E}">
        <p14:creationId xmlns:p14="http://schemas.microsoft.com/office/powerpoint/2010/main" val="3450746398"/>
      </p:ext>
    </p:extLst>
  </p:cSld>
  <p:clrMapOvr>
    <a:masterClrMapping/>
  </p:clrMapOvr>
  <p:transition advClick="0">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46E94-CC96-8236-D47F-7E8F1072A87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92B8780-A90C-DDD5-23A2-3A697CD70457}"/>
              </a:ext>
            </a:extLst>
          </p:cNvPr>
          <p:cNvSpPr txBox="1">
            <a:spLocks/>
          </p:cNvSpPr>
          <p:nvPr/>
        </p:nvSpPr>
        <p:spPr>
          <a:xfrm>
            <a:off x="257396" y="219160"/>
            <a:ext cx="11457740" cy="500167"/>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37.5KM</a:t>
            </a:r>
          </a:p>
        </p:txBody>
      </p:sp>
      <p:pic>
        <p:nvPicPr>
          <p:cNvPr id="4" name="Picture 3">
            <a:extLst>
              <a:ext uri="{FF2B5EF4-FFF2-40B4-BE49-F238E27FC236}">
                <a16:creationId xmlns:a16="http://schemas.microsoft.com/office/drawing/2014/main" id="{393125D9-1C8C-7337-ECFE-AA64FDAF8566}"/>
              </a:ext>
            </a:extLst>
          </p:cNvPr>
          <p:cNvPicPr>
            <a:picLocks noChangeAspect="1"/>
          </p:cNvPicPr>
          <p:nvPr/>
        </p:nvPicPr>
        <p:blipFill>
          <a:blip r:embed="rId2"/>
          <a:stretch>
            <a:fillRect/>
          </a:stretch>
        </p:blipFill>
        <p:spPr>
          <a:xfrm>
            <a:off x="257396" y="840659"/>
            <a:ext cx="5619136" cy="2767430"/>
          </a:xfrm>
          <a:prstGeom prst="rect">
            <a:avLst/>
          </a:prstGeom>
        </p:spPr>
      </p:pic>
      <p:pic>
        <p:nvPicPr>
          <p:cNvPr id="7" name="Picture 6">
            <a:extLst>
              <a:ext uri="{FF2B5EF4-FFF2-40B4-BE49-F238E27FC236}">
                <a16:creationId xmlns:a16="http://schemas.microsoft.com/office/drawing/2014/main" id="{C2512F19-34A1-6580-7A7A-1FEC8937AEEA}"/>
              </a:ext>
            </a:extLst>
          </p:cNvPr>
          <p:cNvPicPr>
            <a:picLocks noChangeAspect="1"/>
          </p:cNvPicPr>
          <p:nvPr/>
        </p:nvPicPr>
        <p:blipFill>
          <a:blip r:embed="rId3"/>
          <a:stretch>
            <a:fillRect/>
          </a:stretch>
        </p:blipFill>
        <p:spPr>
          <a:xfrm>
            <a:off x="257396" y="3771650"/>
            <a:ext cx="5619136" cy="2617106"/>
          </a:xfrm>
          <a:prstGeom prst="rect">
            <a:avLst/>
          </a:prstGeom>
        </p:spPr>
      </p:pic>
      <p:pic>
        <p:nvPicPr>
          <p:cNvPr id="9" name="Picture 8">
            <a:extLst>
              <a:ext uri="{FF2B5EF4-FFF2-40B4-BE49-F238E27FC236}">
                <a16:creationId xmlns:a16="http://schemas.microsoft.com/office/drawing/2014/main" id="{D2ACD4BE-F782-F87D-691E-6F858B71DE87}"/>
              </a:ext>
            </a:extLst>
          </p:cNvPr>
          <p:cNvPicPr>
            <a:picLocks noChangeAspect="1"/>
          </p:cNvPicPr>
          <p:nvPr/>
        </p:nvPicPr>
        <p:blipFill>
          <a:blip r:embed="rId4"/>
          <a:stretch>
            <a:fillRect/>
          </a:stretch>
        </p:blipFill>
        <p:spPr>
          <a:xfrm>
            <a:off x="6096000" y="840659"/>
            <a:ext cx="5619137" cy="2767430"/>
          </a:xfrm>
          <a:prstGeom prst="rect">
            <a:avLst/>
          </a:prstGeom>
        </p:spPr>
      </p:pic>
      <p:pic>
        <p:nvPicPr>
          <p:cNvPr id="11" name="Picture 10">
            <a:extLst>
              <a:ext uri="{FF2B5EF4-FFF2-40B4-BE49-F238E27FC236}">
                <a16:creationId xmlns:a16="http://schemas.microsoft.com/office/drawing/2014/main" id="{B2B70818-7108-4799-9378-409BDECAB7E5}"/>
              </a:ext>
            </a:extLst>
          </p:cNvPr>
          <p:cNvPicPr>
            <a:picLocks noChangeAspect="1"/>
          </p:cNvPicPr>
          <p:nvPr/>
        </p:nvPicPr>
        <p:blipFill>
          <a:blip r:embed="rId5"/>
          <a:stretch>
            <a:fillRect/>
          </a:stretch>
        </p:blipFill>
        <p:spPr>
          <a:xfrm>
            <a:off x="6095999" y="3771650"/>
            <a:ext cx="5619137" cy="2617106"/>
          </a:xfrm>
          <a:prstGeom prst="rect">
            <a:avLst/>
          </a:prstGeom>
        </p:spPr>
      </p:pic>
    </p:spTree>
    <p:extLst>
      <p:ext uri="{BB962C8B-B14F-4D97-AF65-F5344CB8AC3E}">
        <p14:creationId xmlns:p14="http://schemas.microsoft.com/office/powerpoint/2010/main" val="2124947765"/>
      </p:ext>
    </p:extLst>
  </p:cSld>
  <p:clrMapOvr>
    <a:masterClrMapping/>
  </p:clrMapOvr>
  <p:transition advClick="0">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3C0FE-E0EE-38A8-EA9C-ECD894250E4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A920288-96F7-6305-D15A-348EE267F50F}"/>
              </a:ext>
            </a:extLst>
          </p:cNvPr>
          <p:cNvSpPr txBox="1">
            <a:spLocks/>
          </p:cNvSpPr>
          <p:nvPr/>
        </p:nvSpPr>
        <p:spPr>
          <a:xfrm>
            <a:off x="257396" y="170468"/>
            <a:ext cx="11246346" cy="525996"/>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37.5KM</a:t>
            </a:r>
          </a:p>
        </p:txBody>
      </p:sp>
      <p:pic>
        <p:nvPicPr>
          <p:cNvPr id="4" name="Picture 3">
            <a:extLst>
              <a:ext uri="{FF2B5EF4-FFF2-40B4-BE49-F238E27FC236}">
                <a16:creationId xmlns:a16="http://schemas.microsoft.com/office/drawing/2014/main" id="{2592C6B6-C131-FD85-A503-4FBCFAB9FEAE}"/>
              </a:ext>
            </a:extLst>
          </p:cNvPr>
          <p:cNvPicPr>
            <a:picLocks noChangeAspect="1"/>
          </p:cNvPicPr>
          <p:nvPr/>
        </p:nvPicPr>
        <p:blipFill>
          <a:blip r:embed="rId2"/>
          <a:stretch>
            <a:fillRect/>
          </a:stretch>
        </p:blipFill>
        <p:spPr>
          <a:xfrm>
            <a:off x="257396" y="899653"/>
            <a:ext cx="5612462" cy="2787371"/>
          </a:xfrm>
          <a:prstGeom prst="rect">
            <a:avLst/>
          </a:prstGeom>
        </p:spPr>
      </p:pic>
      <p:pic>
        <p:nvPicPr>
          <p:cNvPr id="7" name="Picture 6">
            <a:extLst>
              <a:ext uri="{FF2B5EF4-FFF2-40B4-BE49-F238E27FC236}">
                <a16:creationId xmlns:a16="http://schemas.microsoft.com/office/drawing/2014/main" id="{389439CB-500D-2FB8-92D7-1A7F08E6164A}"/>
              </a:ext>
            </a:extLst>
          </p:cNvPr>
          <p:cNvPicPr>
            <a:picLocks noChangeAspect="1"/>
          </p:cNvPicPr>
          <p:nvPr/>
        </p:nvPicPr>
        <p:blipFill>
          <a:blip r:embed="rId3"/>
          <a:stretch>
            <a:fillRect/>
          </a:stretch>
        </p:blipFill>
        <p:spPr>
          <a:xfrm>
            <a:off x="257397" y="3790334"/>
            <a:ext cx="3827905" cy="2624251"/>
          </a:xfrm>
          <a:prstGeom prst="rect">
            <a:avLst/>
          </a:prstGeom>
        </p:spPr>
      </p:pic>
      <p:pic>
        <p:nvPicPr>
          <p:cNvPr id="9" name="Picture 8">
            <a:extLst>
              <a:ext uri="{FF2B5EF4-FFF2-40B4-BE49-F238E27FC236}">
                <a16:creationId xmlns:a16="http://schemas.microsoft.com/office/drawing/2014/main" id="{8F92813D-56D9-EB57-55A8-7D66A54E622C}"/>
              </a:ext>
            </a:extLst>
          </p:cNvPr>
          <p:cNvPicPr>
            <a:picLocks noChangeAspect="1"/>
          </p:cNvPicPr>
          <p:nvPr/>
        </p:nvPicPr>
        <p:blipFill>
          <a:blip r:embed="rId4"/>
          <a:stretch>
            <a:fillRect/>
          </a:stretch>
        </p:blipFill>
        <p:spPr>
          <a:xfrm>
            <a:off x="6096000" y="899652"/>
            <a:ext cx="5407742" cy="2787372"/>
          </a:xfrm>
          <a:prstGeom prst="rect">
            <a:avLst/>
          </a:prstGeom>
        </p:spPr>
      </p:pic>
      <p:pic>
        <p:nvPicPr>
          <p:cNvPr id="11" name="Picture 10">
            <a:extLst>
              <a:ext uri="{FF2B5EF4-FFF2-40B4-BE49-F238E27FC236}">
                <a16:creationId xmlns:a16="http://schemas.microsoft.com/office/drawing/2014/main" id="{D73AFEC1-34A8-3964-3071-43CD8B9E109E}"/>
              </a:ext>
            </a:extLst>
          </p:cNvPr>
          <p:cNvPicPr>
            <a:picLocks noChangeAspect="1"/>
          </p:cNvPicPr>
          <p:nvPr/>
        </p:nvPicPr>
        <p:blipFill>
          <a:blip r:embed="rId5"/>
          <a:stretch>
            <a:fillRect/>
          </a:stretch>
        </p:blipFill>
        <p:spPr>
          <a:xfrm>
            <a:off x="7801897" y="3790333"/>
            <a:ext cx="3701845" cy="2624251"/>
          </a:xfrm>
          <a:prstGeom prst="rect">
            <a:avLst/>
          </a:prstGeom>
        </p:spPr>
      </p:pic>
      <p:pic>
        <p:nvPicPr>
          <p:cNvPr id="6" name="Picture 5">
            <a:extLst>
              <a:ext uri="{FF2B5EF4-FFF2-40B4-BE49-F238E27FC236}">
                <a16:creationId xmlns:a16="http://schemas.microsoft.com/office/drawing/2014/main" id="{494494C9-064E-69FF-2DC5-AF78B93000BB}"/>
              </a:ext>
            </a:extLst>
          </p:cNvPr>
          <p:cNvPicPr>
            <a:picLocks noChangeAspect="1"/>
          </p:cNvPicPr>
          <p:nvPr/>
        </p:nvPicPr>
        <p:blipFill>
          <a:blip r:embed="rId6"/>
          <a:stretch>
            <a:fillRect/>
          </a:stretch>
        </p:blipFill>
        <p:spPr>
          <a:xfrm>
            <a:off x="4247535" y="3790333"/>
            <a:ext cx="3392129" cy="2634200"/>
          </a:xfrm>
          <a:prstGeom prst="rect">
            <a:avLst/>
          </a:prstGeom>
        </p:spPr>
      </p:pic>
    </p:spTree>
    <p:extLst>
      <p:ext uri="{BB962C8B-B14F-4D97-AF65-F5344CB8AC3E}">
        <p14:creationId xmlns:p14="http://schemas.microsoft.com/office/powerpoint/2010/main" val="2794031977"/>
      </p:ext>
    </p:extLst>
  </p:cSld>
  <p:clrMapOvr>
    <a:masterClrMapping/>
  </p:clrMapOvr>
  <p:transition advClick="0">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F0369-CAEE-6A26-5320-DA42D8CBE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0975D-186B-1DE8-8721-2C1058C4902B}"/>
              </a:ext>
            </a:extLst>
          </p:cNvPr>
          <p:cNvSpPr>
            <a:spLocks noGrp="1"/>
          </p:cNvSpPr>
          <p:nvPr>
            <p:ph type="ctrTitle"/>
          </p:nvPr>
        </p:nvSpPr>
        <p:spPr>
          <a:xfrm>
            <a:off x="271974" y="215241"/>
            <a:ext cx="11741122" cy="464234"/>
          </a:xfrm>
          <a:solidFill>
            <a:schemeClr val="accent1"/>
          </a:solidFill>
        </p:spPr>
        <p:txBody>
          <a:bodyPr>
            <a:normAutofit fontScale="90000"/>
          </a:bodyPr>
          <a:lstStyle/>
          <a:p>
            <a:r>
              <a:rPr lang="en-US" sz="2800" dirty="0"/>
              <a:t>14.) 40KM</a:t>
            </a:r>
          </a:p>
        </p:txBody>
      </p:sp>
      <p:pic>
        <p:nvPicPr>
          <p:cNvPr id="4" name="Picture 3">
            <a:extLst>
              <a:ext uri="{FF2B5EF4-FFF2-40B4-BE49-F238E27FC236}">
                <a16:creationId xmlns:a16="http://schemas.microsoft.com/office/drawing/2014/main" id="{547D13E6-7C2C-B392-C9E5-3D0CAF70B76C}"/>
              </a:ext>
            </a:extLst>
          </p:cNvPr>
          <p:cNvPicPr>
            <a:picLocks noChangeAspect="1"/>
          </p:cNvPicPr>
          <p:nvPr/>
        </p:nvPicPr>
        <p:blipFill>
          <a:blip r:embed="rId2"/>
          <a:stretch>
            <a:fillRect/>
          </a:stretch>
        </p:blipFill>
        <p:spPr>
          <a:xfrm rot="16200000">
            <a:off x="-525838" y="1617423"/>
            <a:ext cx="5478120" cy="3911652"/>
          </a:xfrm>
          <a:prstGeom prst="rect">
            <a:avLst/>
          </a:prstGeom>
        </p:spPr>
      </p:pic>
      <p:pic>
        <p:nvPicPr>
          <p:cNvPr id="6" name="Picture 5">
            <a:extLst>
              <a:ext uri="{FF2B5EF4-FFF2-40B4-BE49-F238E27FC236}">
                <a16:creationId xmlns:a16="http://schemas.microsoft.com/office/drawing/2014/main" id="{4D2D1341-6C03-5989-9219-EE5A9DC56500}"/>
              </a:ext>
            </a:extLst>
          </p:cNvPr>
          <p:cNvPicPr>
            <a:picLocks noChangeAspect="1"/>
          </p:cNvPicPr>
          <p:nvPr/>
        </p:nvPicPr>
        <p:blipFill>
          <a:blip r:embed="rId3"/>
          <a:stretch>
            <a:fillRect/>
          </a:stretch>
        </p:blipFill>
        <p:spPr>
          <a:xfrm rot="16200000">
            <a:off x="3403478" y="1695422"/>
            <a:ext cx="5478120" cy="3755653"/>
          </a:xfrm>
          <a:prstGeom prst="rect">
            <a:avLst/>
          </a:prstGeom>
        </p:spPr>
      </p:pic>
      <p:pic>
        <p:nvPicPr>
          <p:cNvPr id="8" name="Picture 7">
            <a:extLst>
              <a:ext uri="{FF2B5EF4-FFF2-40B4-BE49-F238E27FC236}">
                <a16:creationId xmlns:a16="http://schemas.microsoft.com/office/drawing/2014/main" id="{D5DE2286-4D63-B53E-4393-4B9919A2981F}"/>
              </a:ext>
            </a:extLst>
          </p:cNvPr>
          <p:cNvPicPr>
            <a:picLocks noChangeAspect="1"/>
          </p:cNvPicPr>
          <p:nvPr/>
        </p:nvPicPr>
        <p:blipFill>
          <a:blip r:embed="rId4"/>
          <a:stretch>
            <a:fillRect/>
          </a:stretch>
        </p:blipFill>
        <p:spPr>
          <a:xfrm rot="16200000">
            <a:off x="7333583" y="1711285"/>
            <a:ext cx="5478122" cy="3723926"/>
          </a:xfrm>
          <a:prstGeom prst="rect">
            <a:avLst/>
          </a:prstGeom>
        </p:spPr>
      </p:pic>
    </p:spTree>
    <p:extLst>
      <p:ext uri="{BB962C8B-B14F-4D97-AF65-F5344CB8AC3E}">
        <p14:creationId xmlns:p14="http://schemas.microsoft.com/office/powerpoint/2010/main" val="1079523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3FC9B51-476D-F5A4-B732-C2E0E20E2D5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D9C3387-9E6A-C059-96A6-3BACADE0A740}"/>
              </a:ext>
            </a:extLst>
          </p:cNvPr>
          <p:cNvSpPr txBox="1">
            <a:spLocks/>
          </p:cNvSpPr>
          <p:nvPr/>
        </p:nvSpPr>
        <p:spPr>
          <a:xfrm>
            <a:off x="257397" y="152540"/>
            <a:ext cx="10486803" cy="46423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FROM NAR402 towards NAR050 40KM</a:t>
            </a:r>
          </a:p>
        </p:txBody>
      </p:sp>
      <p:sp>
        <p:nvSpPr>
          <p:cNvPr id="17" name="Title 1">
            <a:extLst>
              <a:ext uri="{FF2B5EF4-FFF2-40B4-BE49-F238E27FC236}">
                <a16:creationId xmlns:a16="http://schemas.microsoft.com/office/drawing/2014/main" id="{80DFC490-A4AC-57C9-647D-673F93A94E03}"/>
              </a:ext>
            </a:extLst>
          </p:cNvPr>
          <p:cNvSpPr txBox="1">
            <a:spLocks/>
          </p:cNvSpPr>
          <p:nvPr/>
        </p:nvSpPr>
        <p:spPr>
          <a:xfrm>
            <a:off x="299305" y="616775"/>
            <a:ext cx="10444895" cy="122422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1800" kern="1200">
                <a:solidFill>
                  <a:schemeClr val="bg1"/>
                </a:solidFill>
                <a:latin typeface="Myriad Pro" pitchFamily="34" charset="0"/>
                <a:ea typeface="+mj-ea"/>
                <a:cs typeface="+mj-cs"/>
              </a:defRPr>
            </a:lvl1pPr>
          </a:lstStyle>
          <a:p>
            <a:pPr marL="342900" lvl="0" indent="-342900">
              <a:lnSpc>
                <a:spcPct val="100000"/>
              </a:lnSpc>
              <a:buFont typeface="Wingdings" panose="05000000000000000000" pitchFamily="2" charset="2"/>
              <a:buChar char="Ø"/>
              <a:defRPr/>
            </a:pPr>
            <a:r>
              <a:rPr lang="en-US" altLang="en-US" sz="1400" dirty="0">
                <a:solidFill>
                  <a:schemeClr val="tx1"/>
                </a:solidFill>
                <a:latin typeface="Arial" pitchFamily="34" charset="0"/>
                <a:cs typeface="Arial" pitchFamily="34" charset="0"/>
              </a:rPr>
              <a:t>Enclosure and fiber is under the road, house and not accessible. Existing fiber is approx. 10-12 feet</a:t>
            </a:r>
          </a:p>
          <a:p>
            <a:pPr marL="342900" lvl="0" indent="-342900">
              <a:lnSpc>
                <a:spcPct val="100000"/>
              </a:lnSpc>
              <a:buFont typeface="Wingdings" panose="05000000000000000000" pitchFamily="2" charset="2"/>
              <a:buChar char="Ø"/>
              <a:defRPr/>
            </a:pPr>
            <a:r>
              <a:rPr lang="en-US" altLang="en-US" sz="1400" dirty="0">
                <a:solidFill>
                  <a:schemeClr val="tx1"/>
                </a:solidFill>
                <a:latin typeface="Arial" pitchFamily="34" charset="0"/>
                <a:cs typeface="Arial" pitchFamily="34" charset="0"/>
              </a:rPr>
              <a:t>Need to bypass approx. 3.5KM cable.</a:t>
            </a:r>
          </a:p>
          <a:p>
            <a:pPr marL="342900" lvl="0" indent="-342900">
              <a:lnSpc>
                <a:spcPct val="100000"/>
              </a:lnSpc>
              <a:buFont typeface="Wingdings" panose="05000000000000000000" pitchFamily="2" charset="2"/>
              <a:buChar char="Ø"/>
              <a:defRPr/>
            </a:pPr>
            <a:r>
              <a:rPr lang="en-US" altLang="en-US" sz="1400" dirty="0">
                <a:solidFill>
                  <a:schemeClr val="tx1"/>
                </a:solidFill>
                <a:latin typeface="Arial" pitchFamily="34" charset="0"/>
                <a:cs typeface="Arial" pitchFamily="34" charset="0"/>
              </a:rPr>
              <a:t>2km UG feasible &amp; 1.5KM UG not feasible due to market area, village, sand mud, paved road and no space available at roadside</a:t>
            </a:r>
          </a:p>
          <a:p>
            <a:pPr marL="342900" lvl="0" indent="-342900">
              <a:lnSpc>
                <a:spcPct val="100000"/>
              </a:lnSpc>
              <a:buFont typeface="Wingdings" panose="05000000000000000000" pitchFamily="2" charset="2"/>
              <a:buChar char="Ø"/>
              <a:defRPr/>
            </a:pPr>
            <a:r>
              <a:rPr lang="en-US" altLang="en-US" sz="1400" dirty="0">
                <a:solidFill>
                  <a:schemeClr val="tx1"/>
                </a:solidFill>
                <a:latin typeface="Arial" pitchFamily="34" charset="0"/>
                <a:cs typeface="Arial" pitchFamily="34" charset="0"/>
              </a:rPr>
              <a:t>Approx. 10 new poles required</a:t>
            </a:r>
          </a:p>
        </p:txBody>
      </p:sp>
      <p:pic>
        <p:nvPicPr>
          <p:cNvPr id="3" name="Picture 2">
            <a:extLst>
              <a:ext uri="{FF2B5EF4-FFF2-40B4-BE49-F238E27FC236}">
                <a16:creationId xmlns:a16="http://schemas.microsoft.com/office/drawing/2014/main" id="{7E5F00DB-053A-D42B-4DF3-AF86A3F30EB2}"/>
              </a:ext>
            </a:extLst>
          </p:cNvPr>
          <p:cNvPicPr>
            <a:picLocks noChangeAspect="1"/>
          </p:cNvPicPr>
          <p:nvPr/>
        </p:nvPicPr>
        <p:blipFill>
          <a:blip r:embed="rId3"/>
          <a:stretch>
            <a:fillRect/>
          </a:stretch>
        </p:blipFill>
        <p:spPr>
          <a:xfrm>
            <a:off x="424316" y="1840998"/>
            <a:ext cx="5553471" cy="2382132"/>
          </a:xfrm>
          <a:prstGeom prst="rect">
            <a:avLst/>
          </a:prstGeom>
        </p:spPr>
      </p:pic>
      <p:pic>
        <p:nvPicPr>
          <p:cNvPr id="12" name="Picture 11">
            <a:extLst>
              <a:ext uri="{FF2B5EF4-FFF2-40B4-BE49-F238E27FC236}">
                <a16:creationId xmlns:a16="http://schemas.microsoft.com/office/drawing/2014/main" id="{47BB655C-2CCD-CC84-919A-DF88F92BED2F}"/>
              </a:ext>
            </a:extLst>
          </p:cNvPr>
          <p:cNvPicPr>
            <a:picLocks noChangeAspect="1"/>
          </p:cNvPicPr>
          <p:nvPr/>
        </p:nvPicPr>
        <p:blipFill>
          <a:blip r:embed="rId4"/>
          <a:stretch>
            <a:fillRect/>
          </a:stretch>
        </p:blipFill>
        <p:spPr>
          <a:xfrm>
            <a:off x="6214213" y="1815407"/>
            <a:ext cx="5553470" cy="2382132"/>
          </a:xfrm>
          <a:prstGeom prst="rect">
            <a:avLst/>
          </a:prstGeom>
        </p:spPr>
      </p:pic>
      <p:pic>
        <p:nvPicPr>
          <p:cNvPr id="19" name="Picture 18">
            <a:extLst>
              <a:ext uri="{FF2B5EF4-FFF2-40B4-BE49-F238E27FC236}">
                <a16:creationId xmlns:a16="http://schemas.microsoft.com/office/drawing/2014/main" id="{94C17BA1-09C9-19EF-40F5-0FFC21309FB2}"/>
              </a:ext>
            </a:extLst>
          </p:cNvPr>
          <p:cNvPicPr>
            <a:picLocks noChangeAspect="1"/>
          </p:cNvPicPr>
          <p:nvPr/>
        </p:nvPicPr>
        <p:blipFill>
          <a:blip r:embed="rId5"/>
          <a:stretch>
            <a:fillRect/>
          </a:stretch>
        </p:blipFill>
        <p:spPr>
          <a:xfrm rot="16200000">
            <a:off x="2170497" y="2835385"/>
            <a:ext cx="2061111" cy="5553472"/>
          </a:xfrm>
          <a:prstGeom prst="rect">
            <a:avLst/>
          </a:prstGeom>
        </p:spPr>
      </p:pic>
      <p:sp>
        <p:nvSpPr>
          <p:cNvPr id="21" name="TextBox 20">
            <a:extLst>
              <a:ext uri="{FF2B5EF4-FFF2-40B4-BE49-F238E27FC236}">
                <a16:creationId xmlns:a16="http://schemas.microsoft.com/office/drawing/2014/main" id="{A8E5A0E4-38F0-6AD1-9F6B-7591D753083E}"/>
              </a:ext>
            </a:extLst>
          </p:cNvPr>
          <p:cNvSpPr txBox="1"/>
          <p:nvPr/>
        </p:nvSpPr>
        <p:spPr>
          <a:xfrm>
            <a:off x="556705" y="4275017"/>
            <a:ext cx="4648200" cy="369332"/>
          </a:xfrm>
          <a:prstGeom prst="rect">
            <a:avLst/>
          </a:prstGeom>
          <a:noFill/>
        </p:spPr>
        <p:txBody>
          <a:bodyPr wrap="square" rtlCol="0">
            <a:spAutoFit/>
          </a:bodyPr>
          <a:lstStyle/>
          <a:p>
            <a:r>
              <a:rPr lang="en-US" dirty="0"/>
              <a:t>End Point NAR133 site</a:t>
            </a:r>
          </a:p>
        </p:txBody>
      </p:sp>
      <p:pic>
        <p:nvPicPr>
          <p:cNvPr id="23" name="Picture 22">
            <a:extLst>
              <a:ext uri="{FF2B5EF4-FFF2-40B4-BE49-F238E27FC236}">
                <a16:creationId xmlns:a16="http://schemas.microsoft.com/office/drawing/2014/main" id="{DD45AC8F-B312-1187-FF14-7A22E2013748}"/>
              </a:ext>
            </a:extLst>
          </p:cNvPr>
          <p:cNvPicPr>
            <a:picLocks noChangeAspect="1"/>
          </p:cNvPicPr>
          <p:nvPr/>
        </p:nvPicPr>
        <p:blipFill>
          <a:blip r:embed="rId6"/>
          <a:stretch>
            <a:fillRect/>
          </a:stretch>
        </p:blipFill>
        <p:spPr>
          <a:xfrm>
            <a:off x="6214213" y="4599887"/>
            <a:ext cx="5553473" cy="2042790"/>
          </a:xfrm>
          <a:prstGeom prst="rect">
            <a:avLst/>
          </a:prstGeom>
        </p:spPr>
      </p:pic>
      <p:sp>
        <p:nvSpPr>
          <p:cNvPr id="25" name="TextBox 24">
            <a:extLst>
              <a:ext uri="{FF2B5EF4-FFF2-40B4-BE49-F238E27FC236}">
                <a16:creationId xmlns:a16="http://schemas.microsoft.com/office/drawing/2014/main" id="{1077C670-2FB7-1FC7-978B-773CB237A0C3}"/>
              </a:ext>
            </a:extLst>
          </p:cNvPr>
          <p:cNvSpPr txBox="1"/>
          <p:nvPr/>
        </p:nvSpPr>
        <p:spPr>
          <a:xfrm>
            <a:off x="6214213" y="4230555"/>
            <a:ext cx="4648200" cy="369332"/>
          </a:xfrm>
          <a:prstGeom prst="rect">
            <a:avLst/>
          </a:prstGeom>
          <a:noFill/>
        </p:spPr>
        <p:txBody>
          <a:bodyPr wrap="square" rtlCol="0">
            <a:spAutoFit/>
          </a:bodyPr>
          <a:lstStyle/>
          <a:p>
            <a:r>
              <a:rPr lang="en-US" dirty="0"/>
              <a:t>T-point</a:t>
            </a:r>
          </a:p>
        </p:txBody>
      </p:sp>
    </p:spTree>
    <p:extLst>
      <p:ext uri="{BB962C8B-B14F-4D97-AF65-F5344CB8AC3E}">
        <p14:creationId xmlns:p14="http://schemas.microsoft.com/office/powerpoint/2010/main" val="3049661440"/>
      </p:ext>
    </p:extLst>
  </p:cSld>
  <p:clrMapOvr>
    <a:masterClrMapping/>
  </p:clrMapOvr>
  <p:transition advClick="0">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0002C-971E-C15D-02D9-374816FD99A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16201234-3088-2AA0-0B1B-953F2A663CEA}"/>
              </a:ext>
            </a:extLst>
          </p:cNvPr>
          <p:cNvSpPr txBox="1">
            <a:spLocks/>
          </p:cNvSpPr>
          <p:nvPr/>
        </p:nvSpPr>
        <p:spPr>
          <a:xfrm>
            <a:off x="236441" y="165743"/>
            <a:ext cx="11360707" cy="46423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40KM Snap</a:t>
            </a:r>
          </a:p>
        </p:txBody>
      </p:sp>
      <p:pic>
        <p:nvPicPr>
          <p:cNvPr id="3" name="Picture 2">
            <a:extLst>
              <a:ext uri="{FF2B5EF4-FFF2-40B4-BE49-F238E27FC236}">
                <a16:creationId xmlns:a16="http://schemas.microsoft.com/office/drawing/2014/main" id="{FD0907E0-12F3-4FDC-A8B9-B5F573DDF206}"/>
              </a:ext>
            </a:extLst>
          </p:cNvPr>
          <p:cNvPicPr>
            <a:picLocks noChangeAspect="1"/>
          </p:cNvPicPr>
          <p:nvPr/>
        </p:nvPicPr>
        <p:blipFill>
          <a:blip r:embed="rId2"/>
          <a:stretch>
            <a:fillRect/>
          </a:stretch>
        </p:blipFill>
        <p:spPr>
          <a:xfrm rot="16200000">
            <a:off x="1732884" y="-606148"/>
            <a:ext cx="2852403" cy="5628027"/>
          </a:xfrm>
          <a:prstGeom prst="rect">
            <a:avLst/>
          </a:prstGeom>
        </p:spPr>
      </p:pic>
      <p:pic>
        <p:nvPicPr>
          <p:cNvPr id="5" name="Picture 4">
            <a:extLst>
              <a:ext uri="{FF2B5EF4-FFF2-40B4-BE49-F238E27FC236}">
                <a16:creationId xmlns:a16="http://schemas.microsoft.com/office/drawing/2014/main" id="{79F761B1-2495-A0C2-2C51-D7929B04722B}"/>
              </a:ext>
            </a:extLst>
          </p:cNvPr>
          <p:cNvPicPr>
            <a:picLocks noChangeAspect="1"/>
          </p:cNvPicPr>
          <p:nvPr/>
        </p:nvPicPr>
        <p:blipFill>
          <a:blip r:embed="rId3"/>
          <a:stretch>
            <a:fillRect/>
          </a:stretch>
        </p:blipFill>
        <p:spPr>
          <a:xfrm rot="16200000">
            <a:off x="7420374" y="-542710"/>
            <a:ext cx="2852401" cy="5501149"/>
          </a:xfrm>
          <a:prstGeom prst="rect">
            <a:avLst/>
          </a:prstGeom>
        </p:spPr>
      </p:pic>
      <p:pic>
        <p:nvPicPr>
          <p:cNvPr id="7" name="Picture 6">
            <a:extLst>
              <a:ext uri="{FF2B5EF4-FFF2-40B4-BE49-F238E27FC236}">
                <a16:creationId xmlns:a16="http://schemas.microsoft.com/office/drawing/2014/main" id="{6C72A85E-18E2-2836-0D98-A70362E67A33}"/>
              </a:ext>
            </a:extLst>
          </p:cNvPr>
          <p:cNvPicPr>
            <a:picLocks noChangeAspect="1"/>
          </p:cNvPicPr>
          <p:nvPr/>
        </p:nvPicPr>
        <p:blipFill>
          <a:blip r:embed="rId4"/>
          <a:stretch>
            <a:fillRect/>
          </a:stretch>
        </p:blipFill>
        <p:spPr>
          <a:xfrm rot="16200000">
            <a:off x="1679799" y="2398952"/>
            <a:ext cx="2958575" cy="5628031"/>
          </a:xfrm>
          <a:prstGeom prst="rect">
            <a:avLst/>
          </a:prstGeom>
        </p:spPr>
      </p:pic>
      <p:pic>
        <p:nvPicPr>
          <p:cNvPr id="15" name="Picture 14">
            <a:extLst>
              <a:ext uri="{FF2B5EF4-FFF2-40B4-BE49-F238E27FC236}">
                <a16:creationId xmlns:a16="http://schemas.microsoft.com/office/drawing/2014/main" id="{BFCB7C2B-5A00-2FCD-FDC0-2308508721C5}"/>
              </a:ext>
            </a:extLst>
          </p:cNvPr>
          <p:cNvPicPr>
            <a:picLocks noChangeAspect="1"/>
          </p:cNvPicPr>
          <p:nvPr/>
        </p:nvPicPr>
        <p:blipFill>
          <a:blip r:embed="rId5"/>
          <a:stretch>
            <a:fillRect/>
          </a:stretch>
        </p:blipFill>
        <p:spPr>
          <a:xfrm rot="16200000">
            <a:off x="7391185" y="2438496"/>
            <a:ext cx="2910783" cy="5501150"/>
          </a:xfrm>
          <a:prstGeom prst="rect">
            <a:avLst/>
          </a:prstGeom>
        </p:spPr>
      </p:pic>
    </p:spTree>
    <p:extLst>
      <p:ext uri="{BB962C8B-B14F-4D97-AF65-F5344CB8AC3E}">
        <p14:creationId xmlns:p14="http://schemas.microsoft.com/office/powerpoint/2010/main" val="3137321772"/>
      </p:ext>
    </p:extLst>
  </p:cSld>
  <p:clrMapOvr>
    <a:masterClrMapping/>
  </p:clrMapOvr>
  <p:transition advClick="0">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E9C5C-88C9-5BF9-CAF8-E3BE9507E441}"/>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4BEFEA29-34F2-9585-8E26-DC03A22CD241}"/>
              </a:ext>
            </a:extLst>
          </p:cNvPr>
          <p:cNvSpPr txBox="1">
            <a:spLocks/>
          </p:cNvSpPr>
          <p:nvPr/>
        </p:nvSpPr>
        <p:spPr>
          <a:xfrm>
            <a:off x="236442" y="165743"/>
            <a:ext cx="11311544" cy="46423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40KM Snap</a:t>
            </a:r>
          </a:p>
        </p:txBody>
      </p:sp>
      <p:pic>
        <p:nvPicPr>
          <p:cNvPr id="13" name="Picture 12">
            <a:extLst>
              <a:ext uri="{FF2B5EF4-FFF2-40B4-BE49-F238E27FC236}">
                <a16:creationId xmlns:a16="http://schemas.microsoft.com/office/drawing/2014/main" id="{9F42DA31-B1CB-1EDA-7B3E-75D1FF1CF297}"/>
              </a:ext>
            </a:extLst>
          </p:cNvPr>
          <p:cNvPicPr>
            <a:picLocks noChangeAspect="1"/>
          </p:cNvPicPr>
          <p:nvPr/>
        </p:nvPicPr>
        <p:blipFill>
          <a:blip r:embed="rId2"/>
          <a:stretch>
            <a:fillRect/>
          </a:stretch>
        </p:blipFill>
        <p:spPr>
          <a:xfrm rot="16200000">
            <a:off x="1626378" y="-630125"/>
            <a:ext cx="2927288" cy="5707156"/>
          </a:xfrm>
          <a:prstGeom prst="rect">
            <a:avLst/>
          </a:prstGeom>
        </p:spPr>
      </p:pic>
      <p:pic>
        <p:nvPicPr>
          <p:cNvPr id="4" name="Picture 3">
            <a:extLst>
              <a:ext uri="{FF2B5EF4-FFF2-40B4-BE49-F238E27FC236}">
                <a16:creationId xmlns:a16="http://schemas.microsoft.com/office/drawing/2014/main" id="{B3BB2CBB-218F-4A30-1CCB-0D64418AAEB6}"/>
              </a:ext>
            </a:extLst>
          </p:cNvPr>
          <p:cNvPicPr>
            <a:picLocks noChangeAspect="1"/>
          </p:cNvPicPr>
          <p:nvPr/>
        </p:nvPicPr>
        <p:blipFill>
          <a:blip r:embed="rId3"/>
          <a:stretch>
            <a:fillRect/>
          </a:stretch>
        </p:blipFill>
        <p:spPr>
          <a:xfrm rot="16200000">
            <a:off x="7358350" y="-502544"/>
            <a:ext cx="2927287" cy="5451985"/>
          </a:xfrm>
          <a:prstGeom prst="rect">
            <a:avLst/>
          </a:prstGeom>
        </p:spPr>
      </p:pic>
      <p:pic>
        <p:nvPicPr>
          <p:cNvPr id="8" name="Picture 7">
            <a:extLst>
              <a:ext uri="{FF2B5EF4-FFF2-40B4-BE49-F238E27FC236}">
                <a16:creationId xmlns:a16="http://schemas.microsoft.com/office/drawing/2014/main" id="{3FD5BCD8-656F-E29A-2BA0-DC36C0DE52CC}"/>
              </a:ext>
            </a:extLst>
          </p:cNvPr>
          <p:cNvPicPr>
            <a:picLocks noChangeAspect="1"/>
          </p:cNvPicPr>
          <p:nvPr/>
        </p:nvPicPr>
        <p:blipFill>
          <a:blip r:embed="rId4"/>
          <a:stretch>
            <a:fillRect/>
          </a:stretch>
        </p:blipFill>
        <p:spPr>
          <a:xfrm rot="16200000">
            <a:off x="1697695" y="2331877"/>
            <a:ext cx="2784655" cy="5707158"/>
          </a:xfrm>
          <a:prstGeom prst="rect">
            <a:avLst/>
          </a:prstGeom>
        </p:spPr>
      </p:pic>
      <p:pic>
        <p:nvPicPr>
          <p:cNvPr id="11" name="Picture 10">
            <a:extLst>
              <a:ext uri="{FF2B5EF4-FFF2-40B4-BE49-F238E27FC236}">
                <a16:creationId xmlns:a16="http://schemas.microsoft.com/office/drawing/2014/main" id="{982AE530-F730-197C-BD26-406A65C3BFB2}"/>
              </a:ext>
            </a:extLst>
          </p:cNvPr>
          <p:cNvPicPr>
            <a:picLocks noChangeAspect="1"/>
          </p:cNvPicPr>
          <p:nvPr/>
        </p:nvPicPr>
        <p:blipFill>
          <a:blip r:embed="rId5"/>
          <a:stretch>
            <a:fillRect/>
          </a:stretch>
        </p:blipFill>
        <p:spPr>
          <a:xfrm rot="16200000">
            <a:off x="7501951" y="2399136"/>
            <a:ext cx="2640094" cy="5451986"/>
          </a:xfrm>
          <a:prstGeom prst="rect">
            <a:avLst/>
          </a:prstGeom>
        </p:spPr>
      </p:pic>
    </p:spTree>
    <p:extLst>
      <p:ext uri="{BB962C8B-B14F-4D97-AF65-F5344CB8AC3E}">
        <p14:creationId xmlns:p14="http://schemas.microsoft.com/office/powerpoint/2010/main" val="890270265"/>
      </p:ext>
    </p:extLst>
  </p:cSld>
  <p:clrMapOvr>
    <a:masterClrMapping/>
  </p:clrMapOvr>
  <p:transition advClick="0">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C5C8-20B5-3B9B-C744-FEDE1DE1D02B}"/>
              </a:ext>
            </a:extLst>
          </p:cNvPr>
          <p:cNvSpPr>
            <a:spLocks noGrp="1"/>
          </p:cNvSpPr>
          <p:nvPr>
            <p:ph type="ctrTitle"/>
          </p:nvPr>
        </p:nvSpPr>
        <p:spPr>
          <a:xfrm>
            <a:off x="271974" y="215241"/>
            <a:ext cx="11741122" cy="464234"/>
          </a:xfrm>
          <a:solidFill>
            <a:schemeClr val="accent1"/>
          </a:solidFill>
        </p:spPr>
        <p:txBody>
          <a:bodyPr>
            <a:normAutofit fontScale="90000"/>
          </a:bodyPr>
          <a:lstStyle/>
          <a:p>
            <a:r>
              <a:rPr lang="en-US" sz="2800" dirty="0"/>
              <a:t>40KM Snap</a:t>
            </a:r>
          </a:p>
        </p:txBody>
      </p:sp>
      <p:pic>
        <p:nvPicPr>
          <p:cNvPr id="7" name="Picture 6">
            <a:extLst>
              <a:ext uri="{FF2B5EF4-FFF2-40B4-BE49-F238E27FC236}">
                <a16:creationId xmlns:a16="http://schemas.microsoft.com/office/drawing/2014/main" id="{2BFDD0B3-EB4C-7C86-27E6-170309B46815}"/>
              </a:ext>
            </a:extLst>
          </p:cNvPr>
          <p:cNvPicPr>
            <a:picLocks noChangeAspect="1"/>
          </p:cNvPicPr>
          <p:nvPr/>
        </p:nvPicPr>
        <p:blipFill>
          <a:blip r:embed="rId2"/>
          <a:stretch>
            <a:fillRect/>
          </a:stretch>
        </p:blipFill>
        <p:spPr>
          <a:xfrm rot="16200000">
            <a:off x="1773351" y="-718791"/>
            <a:ext cx="2786522" cy="5789275"/>
          </a:xfrm>
          <a:prstGeom prst="rect">
            <a:avLst/>
          </a:prstGeom>
        </p:spPr>
      </p:pic>
      <p:pic>
        <p:nvPicPr>
          <p:cNvPr id="9" name="Picture 8">
            <a:extLst>
              <a:ext uri="{FF2B5EF4-FFF2-40B4-BE49-F238E27FC236}">
                <a16:creationId xmlns:a16="http://schemas.microsoft.com/office/drawing/2014/main" id="{6B7E1FE1-70D3-E812-045D-67DF1B8A5E09}"/>
              </a:ext>
            </a:extLst>
          </p:cNvPr>
          <p:cNvPicPr>
            <a:picLocks noChangeAspect="1"/>
          </p:cNvPicPr>
          <p:nvPr/>
        </p:nvPicPr>
        <p:blipFill>
          <a:blip r:embed="rId3"/>
          <a:stretch>
            <a:fillRect/>
          </a:stretch>
        </p:blipFill>
        <p:spPr>
          <a:xfrm rot="16200000">
            <a:off x="1655674" y="2245911"/>
            <a:ext cx="2963558" cy="5917094"/>
          </a:xfrm>
          <a:prstGeom prst="rect">
            <a:avLst/>
          </a:prstGeom>
        </p:spPr>
      </p:pic>
      <p:pic>
        <p:nvPicPr>
          <p:cNvPr id="11" name="Picture 10">
            <a:extLst>
              <a:ext uri="{FF2B5EF4-FFF2-40B4-BE49-F238E27FC236}">
                <a16:creationId xmlns:a16="http://schemas.microsoft.com/office/drawing/2014/main" id="{1EEC2D90-0904-5D66-561D-C8032F27051B}"/>
              </a:ext>
            </a:extLst>
          </p:cNvPr>
          <p:cNvPicPr>
            <a:picLocks noChangeAspect="1"/>
          </p:cNvPicPr>
          <p:nvPr/>
        </p:nvPicPr>
        <p:blipFill>
          <a:blip r:embed="rId4"/>
          <a:stretch>
            <a:fillRect/>
          </a:stretch>
        </p:blipFill>
        <p:spPr>
          <a:xfrm rot="16200000">
            <a:off x="7725197" y="-718791"/>
            <a:ext cx="2786523" cy="5789275"/>
          </a:xfrm>
          <a:prstGeom prst="rect">
            <a:avLst/>
          </a:prstGeom>
        </p:spPr>
      </p:pic>
      <p:pic>
        <p:nvPicPr>
          <p:cNvPr id="14" name="Picture 13">
            <a:extLst>
              <a:ext uri="{FF2B5EF4-FFF2-40B4-BE49-F238E27FC236}">
                <a16:creationId xmlns:a16="http://schemas.microsoft.com/office/drawing/2014/main" id="{622F3979-243E-EA6C-1219-AEA3C561A3E8}"/>
              </a:ext>
            </a:extLst>
          </p:cNvPr>
          <p:cNvPicPr>
            <a:picLocks noChangeAspect="1"/>
          </p:cNvPicPr>
          <p:nvPr/>
        </p:nvPicPr>
        <p:blipFill>
          <a:blip r:embed="rId5"/>
          <a:stretch>
            <a:fillRect/>
          </a:stretch>
        </p:blipFill>
        <p:spPr>
          <a:xfrm rot="16200000">
            <a:off x="7636679" y="2266344"/>
            <a:ext cx="2963557" cy="5789272"/>
          </a:xfrm>
          <a:prstGeom prst="rect">
            <a:avLst/>
          </a:prstGeom>
        </p:spPr>
      </p:pic>
    </p:spTree>
    <p:extLst>
      <p:ext uri="{BB962C8B-B14F-4D97-AF65-F5344CB8AC3E}">
        <p14:creationId xmlns:p14="http://schemas.microsoft.com/office/powerpoint/2010/main" val="3473006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C9B51-476D-F5A4-B732-C2E0E20E2D5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D9C3387-9E6A-C059-96A6-3BACADE0A740}"/>
              </a:ext>
            </a:extLst>
          </p:cNvPr>
          <p:cNvSpPr txBox="1">
            <a:spLocks/>
          </p:cNvSpPr>
          <p:nvPr/>
        </p:nvSpPr>
        <p:spPr>
          <a:xfrm>
            <a:off x="257397" y="167288"/>
            <a:ext cx="11648967" cy="46423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40KM Snap</a:t>
            </a:r>
          </a:p>
        </p:txBody>
      </p:sp>
      <p:pic>
        <p:nvPicPr>
          <p:cNvPr id="8" name="Picture 7">
            <a:extLst>
              <a:ext uri="{FF2B5EF4-FFF2-40B4-BE49-F238E27FC236}">
                <a16:creationId xmlns:a16="http://schemas.microsoft.com/office/drawing/2014/main" id="{049A6183-5643-73EF-B3ED-1924123AA9C8}"/>
              </a:ext>
            </a:extLst>
          </p:cNvPr>
          <p:cNvPicPr>
            <a:picLocks noChangeAspect="1"/>
          </p:cNvPicPr>
          <p:nvPr/>
        </p:nvPicPr>
        <p:blipFill>
          <a:blip r:embed="rId2"/>
          <a:stretch>
            <a:fillRect/>
          </a:stretch>
        </p:blipFill>
        <p:spPr>
          <a:xfrm rot="16200000">
            <a:off x="1694450" y="-699637"/>
            <a:ext cx="2812101" cy="5686207"/>
          </a:xfrm>
          <a:prstGeom prst="rect">
            <a:avLst/>
          </a:prstGeom>
        </p:spPr>
      </p:pic>
      <p:pic>
        <p:nvPicPr>
          <p:cNvPr id="12" name="Picture 11">
            <a:extLst>
              <a:ext uri="{FF2B5EF4-FFF2-40B4-BE49-F238E27FC236}">
                <a16:creationId xmlns:a16="http://schemas.microsoft.com/office/drawing/2014/main" id="{C612684B-206F-E150-F80E-EFA273D5111E}"/>
              </a:ext>
            </a:extLst>
          </p:cNvPr>
          <p:cNvPicPr>
            <a:picLocks noChangeAspect="1"/>
          </p:cNvPicPr>
          <p:nvPr/>
        </p:nvPicPr>
        <p:blipFill>
          <a:blip r:embed="rId3"/>
          <a:stretch>
            <a:fillRect/>
          </a:stretch>
        </p:blipFill>
        <p:spPr>
          <a:xfrm rot="16200000">
            <a:off x="1694451" y="2261755"/>
            <a:ext cx="2812101" cy="5686205"/>
          </a:xfrm>
          <a:prstGeom prst="rect">
            <a:avLst/>
          </a:prstGeom>
        </p:spPr>
      </p:pic>
      <p:pic>
        <p:nvPicPr>
          <p:cNvPr id="16" name="Picture 15">
            <a:extLst>
              <a:ext uri="{FF2B5EF4-FFF2-40B4-BE49-F238E27FC236}">
                <a16:creationId xmlns:a16="http://schemas.microsoft.com/office/drawing/2014/main" id="{34FFA012-87FB-909D-3353-ECE15C468BDC}"/>
              </a:ext>
            </a:extLst>
          </p:cNvPr>
          <p:cNvPicPr>
            <a:picLocks noChangeAspect="1"/>
          </p:cNvPicPr>
          <p:nvPr/>
        </p:nvPicPr>
        <p:blipFill>
          <a:blip r:embed="rId4"/>
          <a:stretch>
            <a:fillRect/>
          </a:stretch>
        </p:blipFill>
        <p:spPr>
          <a:xfrm rot="16200000">
            <a:off x="7595133" y="-761713"/>
            <a:ext cx="2812100" cy="5810361"/>
          </a:xfrm>
          <a:prstGeom prst="rect">
            <a:avLst/>
          </a:prstGeom>
        </p:spPr>
      </p:pic>
      <p:pic>
        <p:nvPicPr>
          <p:cNvPr id="19" name="Picture 18">
            <a:extLst>
              <a:ext uri="{FF2B5EF4-FFF2-40B4-BE49-F238E27FC236}">
                <a16:creationId xmlns:a16="http://schemas.microsoft.com/office/drawing/2014/main" id="{2ADDBF68-1BB8-F1B5-474B-09B3D124CFBA}"/>
              </a:ext>
            </a:extLst>
          </p:cNvPr>
          <p:cNvPicPr>
            <a:picLocks noChangeAspect="1"/>
          </p:cNvPicPr>
          <p:nvPr/>
        </p:nvPicPr>
        <p:blipFill>
          <a:blip r:embed="rId5"/>
          <a:stretch>
            <a:fillRect/>
          </a:stretch>
        </p:blipFill>
        <p:spPr>
          <a:xfrm rot="16200000">
            <a:off x="7595133" y="2199675"/>
            <a:ext cx="2812100" cy="5810361"/>
          </a:xfrm>
          <a:prstGeom prst="rect">
            <a:avLst/>
          </a:prstGeom>
        </p:spPr>
      </p:pic>
    </p:spTree>
    <p:extLst>
      <p:ext uri="{BB962C8B-B14F-4D97-AF65-F5344CB8AC3E}">
        <p14:creationId xmlns:p14="http://schemas.microsoft.com/office/powerpoint/2010/main" val="2666748917"/>
      </p:ext>
    </p:extLst>
  </p:cSld>
  <p:clrMapOvr>
    <a:masterClrMapping/>
  </p:clrMapOvr>
  <p:transition advClick="0">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3504B-1821-FD5F-9DBA-7D3D660D02F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E300A40-6FEF-FABF-B82C-FC63FF027CE8}"/>
              </a:ext>
            </a:extLst>
          </p:cNvPr>
          <p:cNvSpPr txBox="1">
            <a:spLocks/>
          </p:cNvSpPr>
          <p:nvPr/>
        </p:nvSpPr>
        <p:spPr>
          <a:xfrm>
            <a:off x="257397" y="152540"/>
            <a:ext cx="11659305" cy="46423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40KM Snap</a:t>
            </a:r>
          </a:p>
        </p:txBody>
      </p:sp>
      <p:pic>
        <p:nvPicPr>
          <p:cNvPr id="4" name="Picture 3">
            <a:extLst>
              <a:ext uri="{FF2B5EF4-FFF2-40B4-BE49-F238E27FC236}">
                <a16:creationId xmlns:a16="http://schemas.microsoft.com/office/drawing/2014/main" id="{043CCEBE-07EF-A119-6789-D3AE3EF5A892}"/>
              </a:ext>
            </a:extLst>
          </p:cNvPr>
          <p:cNvPicPr>
            <a:picLocks noChangeAspect="1"/>
          </p:cNvPicPr>
          <p:nvPr/>
        </p:nvPicPr>
        <p:blipFill>
          <a:blip r:embed="rId2"/>
          <a:stretch>
            <a:fillRect/>
          </a:stretch>
        </p:blipFill>
        <p:spPr>
          <a:xfrm rot="16200000">
            <a:off x="1680615" y="-681243"/>
            <a:ext cx="2886127" cy="5732564"/>
          </a:xfrm>
          <a:prstGeom prst="rect">
            <a:avLst/>
          </a:prstGeom>
        </p:spPr>
      </p:pic>
      <p:pic>
        <p:nvPicPr>
          <p:cNvPr id="7" name="Picture 6">
            <a:extLst>
              <a:ext uri="{FF2B5EF4-FFF2-40B4-BE49-F238E27FC236}">
                <a16:creationId xmlns:a16="http://schemas.microsoft.com/office/drawing/2014/main" id="{01D08804-B146-EEF4-7169-FD95F0866CD1}"/>
              </a:ext>
            </a:extLst>
          </p:cNvPr>
          <p:cNvPicPr>
            <a:picLocks noChangeAspect="1"/>
          </p:cNvPicPr>
          <p:nvPr/>
        </p:nvPicPr>
        <p:blipFill>
          <a:blip r:embed="rId3"/>
          <a:stretch>
            <a:fillRect/>
          </a:stretch>
        </p:blipFill>
        <p:spPr>
          <a:xfrm rot="16200000">
            <a:off x="1631982" y="2404155"/>
            <a:ext cx="3001294" cy="5714663"/>
          </a:xfrm>
          <a:prstGeom prst="rect">
            <a:avLst/>
          </a:prstGeom>
        </p:spPr>
      </p:pic>
      <p:pic>
        <p:nvPicPr>
          <p:cNvPr id="10" name="Picture 9">
            <a:extLst>
              <a:ext uri="{FF2B5EF4-FFF2-40B4-BE49-F238E27FC236}">
                <a16:creationId xmlns:a16="http://schemas.microsoft.com/office/drawing/2014/main" id="{B2B27A24-75C5-3444-F565-B8951E444AF2}"/>
              </a:ext>
            </a:extLst>
          </p:cNvPr>
          <p:cNvPicPr>
            <a:picLocks noChangeAspect="1"/>
          </p:cNvPicPr>
          <p:nvPr/>
        </p:nvPicPr>
        <p:blipFill>
          <a:blip r:embed="rId4"/>
          <a:stretch>
            <a:fillRect/>
          </a:stretch>
        </p:blipFill>
        <p:spPr>
          <a:xfrm rot="16200000">
            <a:off x="7607358" y="-681244"/>
            <a:ext cx="2886127" cy="5732563"/>
          </a:xfrm>
          <a:prstGeom prst="rect">
            <a:avLst/>
          </a:prstGeom>
        </p:spPr>
      </p:pic>
      <p:pic>
        <p:nvPicPr>
          <p:cNvPr id="13" name="Picture 12">
            <a:extLst>
              <a:ext uri="{FF2B5EF4-FFF2-40B4-BE49-F238E27FC236}">
                <a16:creationId xmlns:a16="http://schemas.microsoft.com/office/drawing/2014/main" id="{5F0DBF8B-1D56-3C43-FA19-DD2408E5A3E8}"/>
              </a:ext>
            </a:extLst>
          </p:cNvPr>
          <p:cNvPicPr>
            <a:picLocks noChangeAspect="1"/>
          </p:cNvPicPr>
          <p:nvPr/>
        </p:nvPicPr>
        <p:blipFill>
          <a:blip r:embed="rId5"/>
          <a:stretch>
            <a:fillRect/>
          </a:stretch>
        </p:blipFill>
        <p:spPr>
          <a:xfrm rot="16200000">
            <a:off x="7549773" y="2395204"/>
            <a:ext cx="3001295" cy="5732563"/>
          </a:xfrm>
          <a:prstGeom prst="rect">
            <a:avLst/>
          </a:prstGeom>
        </p:spPr>
      </p:pic>
    </p:spTree>
    <p:extLst>
      <p:ext uri="{BB962C8B-B14F-4D97-AF65-F5344CB8AC3E}">
        <p14:creationId xmlns:p14="http://schemas.microsoft.com/office/powerpoint/2010/main" val="3006665922"/>
      </p:ext>
    </p:extLst>
  </p:cSld>
  <p:clrMapOvr>
    <a:masterClrMapping/>
  </p:clrMapOvr>
  <p:transition advClick="0">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AA169-4CFA-E961-2EC9-E4996F0C82D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5F9E2AC-7BD6-4D46-2805-22EE08981927}"/>
              </a:ext>
            </a:extLst>
          </p:cNvPr>
          <p:cNvSpPr txBox="1">
            <a:spLocks/>
          </p:cNvSpPr>
          <p:nvPr/>
        </p:nvSpPr>
        <p:spPr>
          <a:xfrm>
            <a:off x="183654" y="201701"/>
            <a:ext cx="11408579" cy="464234"/>
          </a:xfrm>
          <a:prstGeom prst="rect">
            <a:avLst/>
          </a:prstGeom>
          <a:solidFill>
            <a:schemeClr val="accent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40KM Snap</a:t>
            </a:r>
          </a:p>
        </p:txBody>
      </p:sp>
      <p:pic>
        <p:nvPicPr>
          <p:cNvPr id="4" name="Picture 3">
            <a:extLst>
              <a:ext uri="{FF2B5EF4-FFF2-40B4-BE49-F238E27FC236}">
                <a16:creationId xmlns:a16="http://schemas.microsoft.com/office/drawing/2014/main" id="{20011FA9-FB44-170E-B707-13DD177C9D14}"/>
              </a:ext>
            </a:extLst>
          </p:cNvPr>
          <p:cNvPicPr>
            <a:picLocks noChangeAspect="1"/>
          </p:cNvPicPr>
          <p:nvPr/>
        </p:nvPicPr>
        <p:blipFill>
          <a:blip r:embed="rId2"/>
          <a:stretch>
            <a:fillRect/>
          </a:stretch>
        </p:blipFill>
        <p:spPr>
          <a:xfrm>
            <a:off x="183654" y="784268"/>
            <a:ext cx="5912346" cy="5690269"/>
          </a:xfrm>
          <a:prstGeom prst="rect">
            <a:avLst/>
          </a:prstGeom>
        </p:spPr>
      </p:pic>
      <p:pic>
        <p:nvPicPr>
          <p:cNvPr id="7" name="Picture 6">
            <a:extLst>
              <a:ext uri="{FF2B5EF4-FFF2-40B4-BE49-F238E27FC236}">
                <a16:creationId xmlns:a16="http://schemas.microsoft.com/office/drawing/2014/main" id="{5D3A6620-7DBD-E803-D8B4-47A8AB09963B}"/>
              </a:ext>
            </a:extLst>
          </p:cNvPr>
          <p:cNvPicPr>
            <a:picLocks noChangeAspect="1"/>
          </p:cNvPicPr>
          <p:nvPr/>
        </p:nvPicPr>
        <p:blipFill>
          <a:blip r:embed="rId3"/>
          <a:stretch>
            <a:fillRect/>
          </a:stretch>
        </p:blipFill>
        <p:spPr>
          <a:xfrm>
            <a:off x="6206108" y="3834924"/>
            <a:ext cx="5386125" cy="2639613"/>
          </a:xfrm>
          <a:prstGeom prst="rect">
            <a:avLst/>
          </a:prstGeom>
        </p:spPr>
      </p:pic>
      <p:pic>
        <p:nvPicPr>
          <p:cNvPr id="5" name="Picture 4">
            <a:extLst>
              <a:ext uri="{FF2B5EF4-FFF2-40B4-BE49-F238E27FC236}">
                <a16:creationId xmlns:a16="http://schemas.microsoft.com/office/drawing/2014/main" id="{0E25D12A-DF0E-6765-4B2C-9E621E5C0AB2}"/>
              </a:ext>
            </a:extLst>
          </p:cNvPr>
          <p:cNvPicPr>
            <a:picLocks noChangeAspect="1"/>
          </p:cNvPicPr>
          <p:nvPr/>
        </p:nvPicPr>
        <p:blipFill>
          <a:blip r:embed="rId4"/>
          <a:stretch>
            <a:fillRect/>
          </a:stretch>
        </p:blipFill>
        <p:spPr>
          <a:xfrm rot="16200000">
            <a:off x="7433009" y="-442631"/>
            <a:ext cx="2932326" cy="5386126"/>
          </a:xfrm>
          <a:prstGeom prst="rect">
            <a:avLst/>
          </a:prstGeom>
        </p:spPr>
      </p:pic>
    </p:spTree>
    <p:extLst>
      <p:ext uri="{BB962C8B-B14F-4D97-AF65-F5344CB8AC3E}">
        <p14:creationId xmlns:p14="http://schemas.microsoft.com/office/powerpoint/2010/main" val="723853338"/>
      </p:ext>
    </p:extLst>
  </p:cSld>
  <p:clrMapOvr>
    <a:masterClrMapping/>
  </p:clrMapOvr>
  <p:transition advClick="0">
    <p:push dir="u"/>
  </p:transition>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CD5E5F6-606F-F00C-3304-AAFE2704D3E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BDF26A0-F737-4B03-3686-7E3C19561DF4}"/>
              </a:ext>
            </a:extLst>
          </p:cNvPr>
          <p:cNvSpPr txBox="1">
            <a:spLocks/>
          </p:cNvSpPr>
          <p:nvPr/>
        </p:nvSpPr>
        <p:spPr>
          <a:xfrm>
            <a:off x="4030748" y="3281917"/>
            <a:ext cx="4130507" cy="294169"/>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1800" kern="1200">
                <a:solidFill>
                  <a:schemeClr val="bg1"/>
                </a:solidFill>
                <a:latin typeface="Myriad Pro" pitchFamily="34" charset="0"/>
                <a:ea typeface="+mj-ea"/>
                <a:cs typeface="+mj-cs"/>
              </a:defRPr>
            </a:lvl1p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en-US" altLang="en-US" sz="6400" b="1" i="0" u="none" strike="noStrike" kern="1200" cap="none" spc="0" normalizeH="0" baseline="0" noProof="0" dirty="0">
                <a:ln>
                  <a:noFill/>
                </a:ln>
                <a:solidFill>
                  <a:srgbClr val="00B0F0"/>
                </a:solidFill>
                <a:effectLst/>
                <a:uLnTx/>
                <a:uFillTx/>
                <a:latin typeface="Arial" pitchFamily="34" charset="0"/>
                <a:ea typeface="+mj-ea"/>
                <a:cs typeface="Arial" pitchFamily="34" charset="0"/>
              </a:rPr>
              <a:t>Thanks</a:t>
            </a:r>
            <a:endParaRPr kumimoji="0" lang="my-MM" altLang="en-US" sz="6400" b="1" i="0" u="none" strike="noStrike" kern="1200" cap="none" spc="0" normalizeH="0" baseline="0" noProof="0" dirty="0">
              <a:ln>
                <a:noFill/>
              </a:ln>
              <a:solidFill>
                <a:srgbClr val="00B0F0"/>
              </a:solidFill>
              <a:effectLst/>
              <a:uLnTx/>
              <a:uFillTx/>
              <a:latin typeface="Arial" pitchFamily="34" charset="0"/>
              <a:ea typeface="+mj-ea"/>
              <a:cs typeface="Myanmar Text" panose="020B0502040204020203" pitchFamily="34" charset="0"/>
            </a:endParaRPr>
          </a:p>
        </p:txBody>
      </p:sp>
    </p:spTree>
    <p:extLst>
      <p:ext uri="{BB962C8B-B14F-4D97-AF65-F5344CB8AC3E}">
        <p14:creationId xmlns:p14="http://schemas.microsoft.com/office/powerpoint/2010/main" val="21496494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1897</TotalTime>
  <Words>882</Words>
  <Application>Microsoft Office PowerPoint</Application>
  <PresentationFormat>Widescreen</PresentationFormat>
  <Paragraphs>199</Paragraphs>
  <Slides>39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Aptos Narrow</vt:lpstr>
      <vt:lpstr>Arial</vt:lpstr>
      <vt:lpstr>Arial Rounded MT Bold</vt:lpstr>
      <vt:lpstr>Calibri</vt:lpstr>
      <vt:lpstr>Calibri Light</vt:lpstr>
      <vt:lpstr>Cascadia Mono SemiBold</vt:lpstr>
      <vt:lpstr>Wingdings</vt:lpstr>
      <vt:lpstr>Office Theme</vt:lpstr>
      <vt:lpstr>PowerPoint Presentation</vt:lpstr>
      <vt:lpstr>PowerPoint Presentation</vt:lpstr>
      <vt:lpstr>NAR014-NAR402 Rework Feasibility Survey </vt:lpstr>
      <vt:lpstr>PowerPoint Presentation</vt:lpstr>
      <vt:lpstr>PowerPoint Presentation</vt:lpstr>
      <vt:lpstr>PowerPoint Presentation</vt:lpstr>
      <vt:lpstr>PowerPoint Presentation</vt:lpstr>
      <vt:lpstr>PowerPoint Presentation</vt:lpstr>
      <vt:lpstr>1.) 3KM</vt:lpstr>
      <vt:lpstr>PowerPoint Presentation</vt:lpstr>
      <vt:lpstr>PowerPoint Presentation</vt:lpstr>
      <vt:lpstr>16.4KM</vt:lpstr>
      <vt:lpstr>16.4KM</vt:lpstr>
      <vt:lpstr>16.4KM</vt:lpstr>
      <vt:lpstr>16.4KM</vt:lpstr>
      <vt:lpstr>PowerPoint Presentation</vt:lpstr>
      <vt:lpstr>PowerPoint Presentation</vt:lpstr>
      <vt:lpstr>PowerPoint Presentation</vt:lpstr>
      <vt:lpstr>20.5KM</vt:lpstr>
      <vt:lpstr>24.2KM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14.) 40KM</vt:lpstr>
      <vt:lpstr>PowerPoint Presentation</vt:lpstr>
      <vt:lpstr>PowerPoint Presentation</vt:lpstr>
      <vt:lpstr>PowerPoint Presentation</vt:lpstr>
      <vt:lpstr>40KM Snap</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kumar sah</dc:creator>
  <cp:lastModifiedBy>Navin Paudel</cp:lastModifiedBy>
  <cp:revision>54</cp:revision>
  <dcterms:created xsi:type="dcterms:W3CDTF">2026-04-04T11:30:02Z</dcterms:created>
  <dcterms:modified xsi:type="dcterms:W3CDTF">2026-09-24T13:02:36Z</dcterms:modified>
</cp:coreProperties>
</file>